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B7C4C-7AFB-589C-AEBB-B668B0B434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2C961-2D5D-66BF-0735-F6D9A8465F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631DF-61D8-43C4-45C5-47D1879BB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26113-8BF9-48D3-9CB3-89E8A5D2BAE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D9B44-B160-8505-2BEA-EB37B1AFD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E5B17-4F1C-5F2B-D47D-C3AC929A4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F135-F61B-461D-A950-D04D9E6F8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316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5F1E7-5748-F543-9B2B-85F93D53B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02D95-552A-2EC0-D95E-28E21839C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33B88-B49B-BCD1-6406-D3061B9B5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26113-8BF9-48D3-9CB3-89E8A5D2BAE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49D8A-B9B0-D62C-E55A-53F5F6122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076B3-F9B9-50A9-2608-1FCCFE575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F135-F61B-461D-A950-D04D9E6F8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834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75954-555E-165C-B301-0F83851D3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C5C82-AAEE-B3D4-6353-586732E38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A534D-EB80-77F6-45D2-36CBB5280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26113-8BF9-48D3-9CB3-89E8A5D2BAE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033A2-D11E-6E35-A937-F80ED91CA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CA3DC-D458-B24D-C4AC-0F09EA2A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F135-F61B-461D-A950-D04D9E6F8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282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1415C-BD5A-3917-9F42-2CCC16211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0F7BB-B661-2D3B-5A2E-6A16C822F6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811FA2-76C0-6DFA-0BAE-1A9B86D1B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BD7A1-EF9A-5C0B-9074-570F782F8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26113-8BF9-48D3-9CB3-89E8A5D2BAE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7C2FC1-E9B6-5FE0-0413-4FF7AA039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71CFD-E99D-4077-BE23-6212F0ACA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F135-F61B-461D-A950-D04D9E6F8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121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F3EBD-DAE5-A4B4-58F4-C22461C61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2D7A9A-1A73-4AF3-4AEF-585DD82C8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7DF032-D42B-2778-CE70-635FEB404C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00320F-7A0B-4E04-7DCE-EABAA26B66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ED02E9-D003-A881-01A3-456A890AA8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37A4AA-5AB0-687D-2E96-E57FE720A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26113-8BF9-48D3-9CB3-89E8A5D2BAE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972189-B6A8-4EC9-7D6C-0D6CA1346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D1A6BB-6F6D-7E59-04ED-82899192E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F135-F61B-461D-A950-D04D9E6F8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118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CAA76-BB54-D79E-1E21-1F58AFF77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7D883A-F5C0-D743-B511-BDAC157C8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26113-8BF9-48D3-9CB3-89E8A5D2BAE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58CA7E-ECC1-A75D-0F2C-AF70F0590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355C13-02B4-F576-4B6F-2F4471259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F135-F61B-461D-A950-D04D9E6F8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165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B82CCD-2CBD-A712-3588-4D69BB981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26113-8BF9-48D3-9CB3-89E8A5D2BAE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0F9D99-AA4C-50FB-77EF-65942759E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62855-B057-537D-D0A6-8FEDA53E8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F135-F61B-461D-A950-D04D9E6F8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566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F1AA5-1421-629C-6EBA-23768B003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D744D-02C0-74B7-AF32-A0A8063B2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02D778-0D73-1ACF-EDD2-01C6ACA8A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F3634C-91D3-8C3C-14E6-2A584B5DC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26113-8BF9-48D3-9CB3-89E8A5D2BAE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ACB54-4F1E-544D-E82B-20E978022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985DBA-C7C2-8996-3E42-88F2D25E8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F135-F61B-461D-A950-D04D9E6F8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988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3BB44-C714-608E-0FCC-77B7327A4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2E492D-CDFD-D383-BFDB-593B74C998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D81667-8291-7809-E3A3-210F5B760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E3BB0-CB8B-43C8-8E97-015367207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26113-8BF9-48D3-9CB3-89E8A5D2BAE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4585E-976B-1449-1165-BCDB37506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FA804B-C4AD-E4D9-3E43-8B2496DE0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F135-F61B-461D-A950-D04D9E6F8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835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75BEB-8CD7-8378-5450-FE2536EE7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D1962F-8808-2387-C927-21CA864FB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E2990-5973-C203-63B5-3EE39212B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26113-8BF9-48D3-9CB3-89E8A5D2BAE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C802D-3825-5FFC-64F9-200581D74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3A64E-C8A8-5AEE-1AF7-9AB5C9097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F135-F61B-461D-A950-D04D9E6F8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519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C8CF1C-4EFA-38B8-109A-AB38C30E88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C46B62-4E6C-00F6-137A-7CB0E1193E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E1213-A272-ACCF-4846-5A65C0150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26113-8BF9-48D3-9CB3-89E8A5D2BAE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3791C-E569-A79C-5A44-CCB8107F2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9BA1B-D13B-5AEA-6761-92E396069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F135-F61B-461D-A950-D04D9E6F8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459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D91FB4-BCFB-B76F-1051-D93F81AD1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AA2D5-9C03-AF14-3DE3-EF4036FB5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313D0-8C8C-49CA-800A-155D98FD17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26113-8BF9-48D3-9CB3-89E8A5D2BAE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61B31-664A-793E-CCF6-6DF1DBDC66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4AE44-293D-D99F-03FD-0464E798BA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8F135-F61B-461D-A950-D04D9E6F86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669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D847-2E32-829C-4950-22BA328D39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Documentation of Data Cleaning &amp; Transformation Process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BE8776-EBB3-B9F8-5F40-D93EDE39AA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6797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C931A-9733-18F6-5DBB-25E434F6A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Removal of Invalid Transactions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3CF-7193-3B69-BF36-2A9594DA2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0597"/>
          </a:xfrm>
        </p:spPr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  <a:latin typeface="+mj-lt"/>
              </a:rPr>
              <a:t>Negative Quantity Removal</a:t>
            </a:r>
          </a:p>
          <a:p>
            <a:pPr lvl="1"/>
            <a:r>
              <a:rPr lang="en-US" dirty="0"/>
              <a:t>Transactions with negative quantity were removed as they represent returns or data entry errors and do not reflect actual purchases.</a:t>
            </a:r>
          </a:p>
          <a:p>
            <a:r>
              <a:rPr lang="en-IN" b="1" dirty="0">
                <a:solidFill>
                  <a:srgbClr val="FF0000"/>
                </a:solidFill>
                <a:latin typeface="+mj-lt"/>
              </a:rPr>
              <a:t>Cancelled Invoices Removal</a:t>
            </a:r>
          </a:p>
          <a:p>
            <a:pPr lvl="1"/>
            <a:r>
              <a:rPr lang="en-US" dirty="0"/>
              <a:t>Invoices starting with </a:t>
            </a:r>
            <a:r>
              <a:rPr lang="en-US" b="1" dirty="0"/>
              <a:t>‘C’</a:t>
            </a:r>
            <a:r>
              <a:rPr lang="en-US" dirty="0"/>
              <a:t> were identified as cancelled transactions and excluded from the dataset to avoid misleading patterns.</a:t>
            </a:r>
          </a:p>
          <a:p>
            <a:r>
              <a:rPr lang="en-IN" b="1" dirty="0">
                <a:solidFill>
                  <a:srgbClr val="FF0000"/>
                </a:solidFill>
                <a:latin typeface="+mj-lt"/>
              </a:rPr>
              <a:t>Handling Missing Values</a:t>
            </a:r>
          </a:p>
          <a:p>
            <a:pPr lvl="1"/>
            <a:r>
              <a:rPr lang="en-US" dirty="0"/>
              <a:t>Records with missing ‘</a:t>
            </a:r>
            <a:r>
              <a:rPr lang="en-US" dirty="0" err="1"/>
              <a:t>Itemname</a:t>
            </a:r>
            <a:r>
              <a:rPr lang="en-US" dirty="0"/>
              <a:t>’ were dropped.</a:t>
            </a:r>
          </a:p>
          <a:p>
            <a:pPr lvl="1"/>
            <a:r>
              <a:rPr lang="en-US" dirty="0"/>
              <a:t>Item name is mandatory for market basket analysis; transactions without product information are unusable.</a:t>
            </a:r>
            <a:endParaRPr lang="en-US" b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96303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637F3-2BD7-6950-D8FA-5DD8BF894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Product Filtering (Top 500 Products):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D6CD3-5B55-A9E8-C9D7-C98430700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To reduce computational complexity and transaction noise:</a:t>
            </a:r>
          </a:p>
          <a:p>
            <a:pPr lvl="1"/>
            <a:r>
              <a:rPr lang="en-US" dirty="0"/>
              <a:t>Only the top 500 most frequent purchased product were selected.</a:t>
            </a:r>
          </a:p>
          <a:p>
            <a:pPr lvl="1"/>
            <a:endParaRPr lang="en-US" dirty="0"/>
          </a:p>
          <a:p>
            <a:r>
              <a:rPr lang="en-IN" dirty="0">
                <a:solidFill>
                  <a:srgbClr val="FF0000"/>
                </a:solidFill>
              </a:rPr>
              <a:t>This step helps:</a:t>
            </a:r>
          </a:p>
          <a:p>
            <a:pPr lvl="1"/>
            <a:r>
              <a:rPr lang="en-IN" dirty="0"/>
              <a:t>Improve algorithm performance and </a:t>
            </a:r>
            <a:r>
              <a:rPr lang="en-US" dirty="0"/>
              <a:t>Focus on meaningful and high-impact product associations.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454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C403E-4495-AA22-F3E0-3D9DB885A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Reducing Transaction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CE343-27EB-53E7-E44E-61C7A9D5D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Single-item transactions were removed as:</a:t>
            </a: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Market basket analysis is focused on customer purchase behavior.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Single-item baskets do not contribute to association rule generation.</a:t>
            </a:r>
          </a:p>
          <a:p>
            <a:pPr lvl="1"/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011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9C216-CB8F-44E8-C4D2-67B6B61AA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1022754"/>
          </a:xfrm>
        </p:spPr>
        <p:txBody>
          <a:bodyPr/>
          <a:lstStyle/>
          <a:p>
            <a:r>
              <a:rPr lang="en-IN" b="1" u="sng" dirty="0"/>
              <a:t>Transaction–Product Matrix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5B63C-EC98-12E7-5272-F1EF961DB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726" y="1184533"/>
            <a:ext cx="10515600" cy="5627076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The cleaned dataset was transformed into a transaction-product matrix using:</a:t>
            </a:r>
          </a:p>
          <a:p>
            <a:pPr lvl="1"/>
            <a:r>
              <a:rPr lang="en-IN" dirty="0" err="1"/>
              <a:t>groupby</a:t>
            </a:r>
            <a:r>
              <a:rPr lang="en-IN" dirty="0"/>
              <a:t>(</a:t>
            </a:r>
            <a:r>
              <a:rPr lang="en-IN" dirty="0" err="1"/>
              <a:t>BillNo</a:t>
            </a:r>
            <a:r>
              <a:rPr lang="en-IN" dirty="0"/>
              <a:t>, </a:t>
            </a:r>
            <a:r>
              <a:rPr lang="en-IN" dirty="0" err="1"/>
              <a:t>ItemName</a:t>
            </a:r>
            <a:r>
              <a:rPr lang="en-IN" dirty="0"/>
              <a:t>)</a:t>
            </a:r>
          </a:p>
          <a:p>
            <a:pPr lvl="1"/>
            <a:r>
              <a:rPr lang="en-IN" dirty="0"/>
              <a:t>sum(Quantity)</a:t>
            </a:r>
          </a:p>
          <a:p>
            <a:pPr lvl="1"/>
            <a:r>
              <a:rPr lang="en-IN" dirty="0"/>
              <a:t>unstack(</a:t>
            </a:r>
            <a:r>
              <a:rPr lang="en-IN" dirty="0" err="1"/>
              <a:t>fill_value</a:t>
            </a:r>
            <a:r>
              <a:rPr lang="en-IN" dirty="0"/>
              <a:t>=0)</a:t>
            </a:r>
            <a:endParaRPr lang="en-IN" dirty="0">
              <a:solidFill>
                <a:srgbClr val="FF0000"/>
              </a:solidFill>
            </a:endParaRPr>
          </a:p>
          <a:p>
            <a:r>
              <a:rPr lang="en-IN" dirty="0">
                <a:solidFill>
                  <a:srgbClr val="FF0000"/>
                </a:solidFill>
              </a:rPr>
              <a:t>Why unstack is used:</a:t>
            </a:r>
          </a:p>
          <a:p>
            <a:pPr lvl="1"/>
            <a:r>
              <a:rPr lang="en-US" dirty="0"/>
              <a:t>unstack() converts product names from rows into columns.</a:t>
            </a:r>
          </a:p>
          <a:p>
            <a:pPr lvl="1"/>
            <a:r>
              <a:rPr lang="en-US" dirty="0"/>
              <a:t>Each row represents a transaction.</a:t>
            </a:r>
          </a:p>
          <a:p>
            <a:pPr lvl="1"/>
            <a:r>
              <a:rPr lang="en-US" dirty="0"/>
              <a:t>Each column represents a product.</a:t>
            </a:r>
          </a:p>
          <a:p>
            <a:r>
              <a:rPr lang="en-IN" dirty="0">
                <a:solidFill>
                  <a:srgbClr val="FF0000"/>
                </a:solidFill>
              </a:rPr>
              <a:t>Why </a:t>
            </a:r>
            <a:r>
              <a:rPr lang="en-IN" dirty="0" err="1">
                <a:solidFill>
                  <a:srgbClr val="FF0000"/>
                </a:solidFill>
              </a:rPr>
              <a:t>fill_value</a:t>
            </a:r>
            <a:r>
              <a:rPr lang="en-IN" dirty="0">
                <a:solidFill>
                  <a:srgbClr val="FF0000"/>
                </a:solidFill>
              </a:rPr>
              <a:t> = 0:</a:t>
            </a:r>
          </a:p>
          <a:p>
            <a:pPr lvl="1"/>
            <a:r>
              <a:rPr lang="en-US" dirty="0"/>
              <a:t>Missing combinations are replaced with 0.</a:t>
            </a:r>
          </a:p>
          <a:p>
            <a:pPr lvl="1"/>
            <a:r>
              <a:rPr lang="en-US" dirty="0"/>
              <a:t>Indicates that a product was not purchased in that transaction.</a:t>
            </a:r>
            <a:endParaRPr lang="en-IN" dirty="0">
              <a:solidFill>
                <a:srgbClr val="FF0000"/>
              </a:solidFill>
            </a:endParaRPr>
          </a:p>
          <a:p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667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AF4CE-74FF-CE25-1259-359043AD1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Binary Basket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8339F-1423-C735-884D-9B6E31094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The quantity-based matrix was converted into a binary basket matrix :</a:t>
            </a:r>
          </a:p>
          <a:p>
            <a:pPr lvl="1"/>
            <a:r>
              <a:rPr lang="en-IN" dirty="0"/>
              <a:t>1 as Product purchased</a:t>
            </a:r>
          </a:p>
          <a:p>
            <a:pPr lvl="1"/>
            <a:r>
              <a:rPr lang="en-IN" dirty="0"/>
              <a:t>0 as Product not purchased</a:t>
            </a:r>
          </a:p>
          <a:p>
            <a:pPr lvl="1"/>
            <a:endParaRPr lang="en-IN" dirty="0">
              <a:solidFill>
                <a:srgbClr val="FF0000"/>
              </a:solidFill>
            </a:endParaRPr>
          </a:p>
          <a:p>
            <a:r>
              <a:rPr lang="en-IN" dirty="0">
                <a:solidFill>
                  <a:srgbClr val="FF0000"/>
                </a:solidFill>
              </a:rPr>
              <a:t>Reason:</a:t>
            </a:r>
          </a:p>
          <a:p>
            <a:pPr lvl="1"/>
            <a:r>
              <a:rPr lang="en-IN" dirty="0"/>
              <a:t>Market Basket Analysis focuses on presence or absence not quantity.</a:t>
            </a:r>
          </a:p>
          <a:p>
            <a:pPr lvl="1"/>
            <a:r>
              <a:rPr lang="en-US" dirty="0"/>
              <a:t>Required format for the </a:t>
            </a:r>
            <a:r>
              <a:rPr lang="en-US" dirty="0" err="1"/>
              <a:t>Apriori</a:t>
            </a:r>
            <a:r>
              <a:rPr lang="en-US" dirty="0"/>
              <a:t> Algorithm.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831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A8C05-D121-BE6E-A887-CF0FA139F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Final Outcome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DE6E0-90C7-424B-482B-0338EC2B3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 clean, noise-free and optimized dataset suitable for:</a:t>
            </a:r>
          </a:p>
          <a:p>
            <a:pPr lvl="1"/>
            <a:r>
              <a:rPr lang="en-IN" dirty="0"/>
              <a:t>Frequent itemset generation</a:t>
            </a:r>
          </a:p>
          <a:p>
            <a:pPr lvl="1"/>
            <a:r>
              <a:rPr lang="en-IN" dirty="0"/>
              <a:t>Association rule mining</a:t>
            </a:r>
          </a:p>
          <a:p>
            <a:pPr lvl="1"/>
            <a:endParaRPr lang="en-IN" dirty="0">
              <a:solidFill>
                <a:srgbClr val="FF0000"/>
              </a:solidFill>
            </a:endParaRPr>
          </a:p>
          <a:p>
            <a:r>
              <a:rPr lang="en-US" dirty="0"/>
              <a:t>Dataset is now fully prepared for </a:t>
            </a:r>
            <a:r>
              <a:rPr lang="en-US" dirty="0" err="1"/>
              <a:t>Apriori</a:t>
            </a:r>
            <a:r>
              <a:rPr lang="en-US" dirty="0"/>
              <a:t> Algorithm Implementation.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9554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</Words>
  <Application>Microsoft Office PowerPoint</Application>
  <PresentationFormat>Widescreen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Documentation of Data Cleaning &amp; Transformation Process</vt:lpstr>
      <vt:lpstr>Removal of Invalid Transactions : </vt:lpstr>
      <vt:lpstr>Product Filtering (Top 500 Products):</vt:lpstr>
      <vt:lpstr>Reducing Transaction Noise</vt:lpstr>
      <vt:lpstr>Transaction–Product Matrix Creation</vt:lpstr>
      <vt:lpstr>Binary Basket Conversion</vt:lpstr>
      <vt:lpstr>Final Outcome 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 Raj Sinha</dc:creator>
  <cp:lastModifiedBy>Ankit Raj Sinha</cp:lastModifiedBy>
  <cp:revision>1</cp:revision>
  <dcterms:created xsi:type="dcterms:W3CDTF">2026-02-06T10:03:59Z</dcterms:created>
  <dcterms:modified xsi:type="dcterms:W3CDTF">2026-02-06T10:04:25Z</dcterms:modified>
</cp:coreProperties>
</file>