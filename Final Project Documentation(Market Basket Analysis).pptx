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2" r:id="rId14"/>
    <p:sldId id="273" r:id="rId15"/>
    <p:sldId id="268" r:id="rId16"/>
    <p:sldId id="269" r:id="rId17"/>
    <p:sldId id="270" r:id="rId18"/>
    <p:sldId id="271"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it Raj Sinha" userId="0c2c692360e9a369" providerId="LiveId" clId="{77E5A1FC-CD9F-4ECA-809B-F7E2B085EFD1}"/>
    <pc:docChg chg="undo custSel modSld">
      <pc:chgData name="Ankit Raj Sinha" userId="0c2c692360e9a369" providerId="LiveId" clId="{77E5A1FC-CD9F-4ECA-809B-F7E2B085EFD1}" dt="2026-02-20T05:33:45.307" v="468" actId="20577"/>
      <pc:docMkLst>
        <pc:docMk/>
      </pc:docMkLst>
      <pc:sldChg chg="addSp modSp mod">
        <pc:chgData name="Ankit Raj Sinha" userId="0c2c692360e9a369" providerId="LiveId" clId="{77E5A1FC-CD9F-4ECA-809B-F7E2B085EFD1}" dt="2026-02-20T05:33:45.307" v="468" actId="20577"/>
        <pc:sldMkLst>
          <pc:docMk/>
          <pc:sldMk cId="1572741099" sldId="256"/>
        </pc:sldMkLst>
        <pc:spChg chg="mod">
          <ac:chgData name="Ankit Raj Sinha" userId="0c2c692360e9a369" providerId="LiveId" clId="{77E5A1FC-CD9F-4ECA-809B-F7E2B085EFD1}" dt="2026-02-20T05:05:06.227" v="263" actId="207"/>
          <ac:spMkLst>
            <pc:docMk/>
            <pc:sldMk cId="1572741099" sldId="256"/>
            <ac:spMk id="2" creationId="{BED625B0-B29B-11D4-5C1F-5901009F29B5}"/>
          </ac:spMkLst>
        </pc:spChg>
        <pc:spChg chg="mod">
          <ac:chgData name="Ankit Raj Sinha" userId="0c2c692360e9a369" providerId="LiveId" clId="{77E5A1FC-CD9F-4ECA-809B-F7E2B085EFD1}" dt="2026-02-20T05:05:20.226" v="265" actId="1076"/>
          <ac:spMkLst>
            <pc:docMk/>
            <pc:sldMk cId="1572741099" sldId="256"/>
            <ac:spMk id="3" creationId="{4A5C0573-A11D-14EE-90D7-4DA60529320B}"/>
          </ac:spMkLst>
        </pc:spChg>
        <pc:spChg chg="add mod">
          <ac:chgData name="Ankit Raj Sinha" userId="0c2c692360e9a369" providerId="LiveId" clId="{77E5A1FC-CD9F-4ECA-809B-F7E2B085EFD1}" dt="2026-02-20T05:33:45.307" v="468" actId="20577"/>
          <ac:spMkLst>
            <pc:docMk/>
            <pc:sldMk cId="1572741099" sldId="256"/>
            <ac:spMk id="4" creationId="{6D6D769D-33E2-BBE1-FADA-B6001016C7AD}"/>
          </ac:spMkLst>
        </pc:spChg>
      </pc:sldChg>
      <pc:sldChg chg="modSp mod">
        <pc:chgData name="Ankit Raj Sinha" userId="0c2c692360e9a369" providerId="LiveId" clId="{77E5A1FC-CD9F-4ECA-809B-F7E2B085EFD1}" dt="2026-02-19T18:48:39.147" v="61" actId="404"/>
        <pc:sldMkLst>
          <pc:docMk/>
          <pc:sldMk cId="1405030332" sldId="257"/>
        </pc:sldMkLst>
        <pc:spChg chg="mod">
          <ac:chgData name="Ankit Raj Sinha" userId="0c2c692360e9a369" providerId="LiveId" clId="{77E5A1FC-CD9F-4ECA-809B-F7E2B085EFD1}" dt="2026-02-19T18:48:39.147" v="61" actId="404"/>
          <ac:spMkLst>
            <pc:docMk/>
            <pc:sldMk cId="1405030332" sldId="257"/>
            <ac:spMk id="3" creationId="{1428A657-2457-5B4D-F85C-53B111AB76C0}"/>
          </ac:spMkLst>
        </pc:spChg>
      </pc:sldChg>
      <pc:sldChg chg="modSp mod">
        <pc:chgData name="Ankit Raj Sinha" userId="0c2c692360e9a369" providerId="LiveId" clId="{77E5A1FC-CD9F-4ECA-809B-F7E2B085EFD1}" dt="2026-02-19T18:59:44.878" v="152" actId="403"/>
        <pc:sldMkLst>
          <pc:docMk/>
          <pc:sldMk cId="645947194" sldId="258"/>
        </pc:sldMkLst>
        <pc:spChg chg="mod">
          <ac:chgData name="Ankit Raj Sinha" userId="0c2c692360e9a369" providerId="LiveId" clId="{77E5A1FC-CD9F-4ECA-809B-F7E2B085EFD1}" dt="2026-02-19T18:59:44.878" v="152" actId="403"/>
          <ac:spMkLst>
            <pc:docMk/>
            <pc:sldMk cId="645947194" sldId="258"/>
            <ac:spMk id="3" creationId="{E7690C93-4B2B-1997-A763-1FEF7444FF4C}"/>
          </ac:spMkLst>
        </pc:spChg>
      </pc:sldChg>
      <pc:sldChg chg="modSp mod">
        <pc:chgData name="Ankit Raj Sinha" userId="0c2c692360e9a369" providerId="LiveId" clId="{77E5A1FC-CD9F-4ECA-809B-F7E2B085EFD1}" dt="2026-02-19T19:00:01.736" v="154" actId="27636"/>
        <pc:sldMkLst>
          <pc:docMk/>
          <pc:sldMk cId="1054545310" sldId="259"/>
        </pc:sldMkLst>
        <pc:spChg chg="mod">
          <ac:chgData name="Ankit Raj Sinha" userId="0c2c692360e9a369" providerId="LiveId" clId="{77E5A1FC-CD9F-4ECA-809B-F7E2B085EFD1}" dt="2026-02-19T19:00:01.736" v="154" actId="27636"/>
          <ac:spMkLst>
            <pc:docMk/>
            <pc:sldMk cId="1054545310" sldId="259"/>
            <ac:spMk id="3" creationId="{765BABA3-F32F-E5DD-E1A2-91CC812B4CA8}"/>
          </ac:spMkLst>
        </pc:spChg>
      </pc:sldChg>
      <pc:sldChg chg="modSp mod">
        <pc:chgData name="Ankit Raj Sinha" userId="0c2c692360e9a369" providerId="LiveId" clId="{77E5A1FC-CD9F-4ECA-809B-F7E2B085EFD1}" dt="2026-02-19T19:00:29.844" v="157" actId="14100"/>
        <pc:sldMkLst>
          <pc:docMk/>
          <pc:sldMk cId="275121665" sldId="261"/>
        </pc:sldMkLst>
        <pc:spChg chg="mod">
          <ac:chgData name="Ankit Raj Sinha" userId="0c2c692360e9a369" providerId="LiveId" clId="{77E5A1FC-CD9F-4ECA-809B-F7E2B085EFD1}" dt="2026-02-19T19:00:22.876" v="156" actId="1076"/>
          <ac:spMkLst>
            <pc:docMk/>
            <pc:sldMk cId="275121665" sldId="261"/>
            <ac:spMk id="5" creationId="{ABEA78B6-9136-D2C4-2CF2-B8AA36E29C07}"/>
          </ac:spMkLst>
        </pc:spChg>
        <pc:picChg chg="mod">
          <ac:chgData name="Ankit Raj Sinha" userId="0c2c692360e9a369" providerId="LiveId" clId="{77E5A1FC-CD9F-4ECA-809B-F7E2B085EFD1}" dt="2026-02-19T19:00:29.844" v="157" actId="14100"/>
          <ac:picMkLst>
            <pc:docMk/>
            <pc:sldMk cId="275121665" sldId="261"/>
            <ac:picMk id="4" creationId="{B83A66D0-5640-2B09-8E47-E6D56201A7FC}"/>
          </ac:picMkLst>
        </pc:picChg>
      </pc:sldChg>
      <pc:sldChg chg="modSp mod">
        <pc:chgData name="Ankit Raj Sinha" userId="0c2c692360e9a369" providerId="LiveId" clId="{77E5A1FC-CD9F-4ECA-809B-F7E2B085EFD1}" dt="2026-02-19T18:51:25.021" v="78" actId="20577"/>
        <pc:sldMkLst>
          <pc:docMk/>
          <pc:sldMk cId="2155765227" sldId="266"/>
        </pc:sldMkLst>
        <pc:spChg chg="mod">
          <ac:chgData name="Ankit Raj Sinha" userId="0c2c692360e9a369" providerId="LiveId" clId="{77E5A1FC-CD9F-4ECA-809B-F7E2B085EFD1}" dt="2026-02-19T18:51:25.021" v="78" actId="20577"/>
          <ac:spMkLst>
            <pc:docMk/>
            <pc:sldMk cId="2155765227" sldId="266"/>
            <ac:spMk id="3" creationId="{D3E39735-ACA9-FB55-3492-9758124B0813}"/>
          </ac:spMkLst>
        </pc:spChg>
      </pc:sldChg>
      <pc:sldChg chg="modSp mod">
        <pc:chgData name="Ankit Raj Sinha" userId="0c2c692360e9a369" providerId="LiveId" clId="{77E5A1FC-CD9F-4ECA-809B-F7E2B085EFD1}" dt="2026-02-19T18:52:23.016" v="86" actId="27636"/>
        <pc:sldMkLst>
          <pc:docMk/>
          <pc:sldMk cId="1919392130" sldId="267"/>
        </pc:sldMkLst>
        <pc:spChg chg="mod">
          <ac:chgData name="Ankit Raj Sinha" userId="0c2c692360e9a369" providerId="LiveId" clId="{77E5A1FC-CD9F-4ECA-809B-F7E2B085EFD1}" dt="2026-02-19T18:52:23.016" v="86" actId="27636"/>
          <ac:spMkLst>
            <pc:docMk/>
            <pc:sldMk cId="1919392130" sldId="267"/>
            <ac:spMk id="3" creationId="{64C7166A-8D6B-FD2B-F7FE-F31398FAB6A5}"/>
          </ac:spMkLst>
        </pc:spChg>
      </pc:sldChg>
      <pc:sldChg chg="modSp mod">
        <pc:chgData name="Ankit Raj Sinha" userId="0c2c692360e9a369" providerId="LiveId" clId="{77E5A1FC-CD9F-4ECA-809B-F7E2B085EFD1}" dt="2026-02-19T18:57:01.874" v="114" actId="403"/>
        <pc:sldMkLst>
          <pc:docMk/>
          <pc:sldMk cId="730978058" sldId="268"/>
        </pc:sldMkLst>
        <pc:spChg chg="mod">
          <ac:chgData name="Ankit Raj Sinha" userId="0c2c692360e9a369" providerId="LiveId" clId="{77E5A1FC-CD9F-4ECA-809B-F7E2B085EFD1}" dt="2026-02-19T18:57:01.874" v="114" actId="403"/>
          <ac:spMkLst>
            <pc:docMk/>
            <pc:sldMk cId="730978058" sldId="268"/>
            <ac:spMk id="3" creationId="{2BCD93A8-D0BA-EFC4-B479-440B5035D36E}"/>
          </ac:spMkLst>
        </pc:spChg>
      </pc:sldChg>
      <pc:sldChg chg="modSp mod">
        <pc:chgData name="Ankit Raj Sinha" userId="0c2c692360e9a369" providerId="LiveId" clId="{77E5A1FC-CD9F-4ECA-809B-F7E2B085EFD1}" dt="2026-02-19T18:57:10.498" v="115" actId="403"/>
        <pc:sldMkLst>
          <pc:docMk/>
          <pc:sldMk cId="954315523" sldId="269"/>
        </pc:sldMkLst>
        <pc:spChg chg="mod">
          <ac:chgData name="Ankit Raj Sinha" userId="0c2c692360e9a369" providerId="LiveId" clId="{77E5A1FC-CD9F-4ECA-809B-F7E2B085EFD1}" dt="2026-02-19T18:57:10.498" v="115" actId="403"/>
          <ac:spMkLst>
            <pc:docMk/>
            <pc:sldMk cId="954315523" sldId="269"/>
            <ac:spMk id="3" creationId="{5EF377AD-C9D2-6449-0C43-8F321AA17E8D}"/>
          </ac:spMkLst>
        </pc:spChg>
      </pc:sldChg>
      <pc:sldChg chg="modSp mod">
        <pc:chgData name="Ankit Raj Sinha" userId="0c2c692360e9a369" providerId="LiveId" clId="{77E5A1FC-CD9F-4ECA-809B-F7E2B085EFD1}" dt="2026-02-19T18:57:22.310" v="116" actId="403"/>
        <pc:sldMkLst>
          <pc:docMk/>
          <pc:sldMk cId="1826133401" sldId="270"/>
        </pc:sldMkLst>
        <pc:spChg chg="mod">
          <ac:chgData name="Ankit Raj Sinha" userId="0c2c692360e9a369" providerId="LiveId" clId="{77E5A1FC-CD9F-4ECA-809B-F7E2B085EFD1}" dt="2026-02-19T18:57:22.310" v="116" actId="403"/>
          <ac:spMkLst>
            <pc:docMk/>
            <pc:sldMk cId="1826133401" sldId="270"/>
            <ac:spMk id="3" creationId="{6EC06CA5-F8F8-5D4D-F788-5E4C13534751}"/>
          </ac:spMkLst>
        </pc:spChg>
      </pc:sldChg>
      <pc:sldChg chg="modSp mod">
        <pc:chgData name="Ankit Raj Sinha" userId="0c2c692360e9a369" providerId="LiveId" clId="{77E5A1FC-CD9F-4ECA-809B-F7E2B085EFD1}" dt="2026-02-19T18:58:26.290" v="142" actId="20577"/>
        <pc:sldMkLst>
          <pc:docMk/>
          <pc:sldMk cId="96293372" sldId="271"/>
        </pc:sldMkLst>
        <pc:spChg chg="mod">
          <ac:chgData name="Ankit Raj Sinha" userId="0c2c692360e9a369" providerId="LiveId" clId="{77E5A1FC-CD9F-4ECA-809B-F7E2B085EFD1}" dt="2026-02-19T18:58:26.290" v="142" actId="20577"/>
          <ac:spMkLst>
            <pc:docMk/>
            <pc:sldMk cId="96293372" sldId="271"/>
            <ac:spMk id="2" creationId="{832821F7-8676-5EA9-4DC7-9A657ABBB659}"/>
          </ac:spMkLst>
        </pc:spChg>
        <pc:spChg chg="mod">
          <ac:chgData name="Ankit Raj Sinha" userId="0c2c692360e9a369" providerId="LiveId" clId="{77E5A1FC-CD9F-4ECA-809B-F7E2B085EFD1}" dt="2026-02-19T18:58:18.947" v="136" actId="1076"/>
          <ac:spMkLst>
            <pc:docMk/>
            <pc:sldMk cId="96293372" sldId="271"/>
            <ac:spMk id="3" creationId="{B3EBA1D5-62D8-2DCF-FFFB-D539B4C6BD4C}"/>
          </ac:spMkLst>
        </pc:spChg>
      </pc:sldChg>
      <pc:sldChg chg="modSp mod">
        <pc:chgData name="Ankit Raj Sinha" userId="0c2c692360e9a369" providerId="LiveId" clId="{77E5A1FC-CD9F-4ECA-809B-F7E2B085EFD1}" dt="2026-02-19T18:56:02.362" v="107" actId="1076"/>
        <pc:sldMkLst>
          <pc:docMk/>
          <pc:sldMk cId="1495196451" sldId="272"/>
        </pc:sldMkLst>
        <pc:spChg chg="mod">
          <ac:chgData name="Ankit Raj Sinha" userId="0c2c692360e9a369" providerId="LiveId" clId="{77E5A1FC-CD9F-4ECA-809B-F7E2B085EFD1}" dt="2026-02-19T18:55:58.316" v="106" actId="14100"/>
          <ac:spMkLst>
            <pc:docMk/>
            <pc:sldMk cId="1495196451" sldId="272"/>
            <ac:spMk id="2" creationId="{8C417A9A-97D9-9086-D2F2-A2A252B386D1}"/>
          </ac:spMkLst>
        </pc:spChg>
        <pc:spChg chg="mod">
          <ac:chgData name="Ankit Raj Sinha" userId="0c2c692360e9a369" providerId="LiveId" clId="{77E5A1FC-CD9F-4ECA-809B-F7E2B085EFD1}" dt="2026-02-19T18:56:02.362" v="107" actId="1076"/>
          <ac:spMkLst>
            <pc:docMk/>
            <pc:sldMk cId="1495196451" sldId="272"/>
            <ac:spMk id="3" creationId="{2F48FCFB-7230-7DCE-2D81-78F423A0F7E4}"/>
          </ac:spMkLst>
        </pc:spChg>
        <pc:spChg chg="mod">
          <ac:chgData name="Ankit Raj Sinha" userId="0c2c692360e9a369" providerId="LiveId" clId="{77E5A1FC-CD9F-4ECA-809B-F7E2B085EFD1}" dt="2026-02-19T18:54:18.445" v="94" actId="20577"/>
          <ac:spMkLst>
            <pc:docMk/>
            <pc:sldMk cId="1495196451" sldId="272"/>
            <ac:spMk id="5" creationId="{D5093449-6B78-F10D-0FE5-F04D9C78D340}"/>
          </ac:spMkLst>
        </pc:spChg>
        <pc:picChg chg="mod">
          <ac:chgData name="Ankit Raj Sinha" userId="0c2c692360e9a369" providerId="LiveId" clId="{77E5A1FC-CD9F-4ECA-809B-F7E2B085EFD1}" dt="2026-02-19T18:53:23.386" v="89" actId="14100"/>
          <ac:picMkLst>
            <pc:docMk/>
            <pc:sldMk cId="1495196451" sldId="272"/>
            <ac:picMk id="4" creationId="{65A55C15-16A5-DE52-7FC7-217EC97B2335}"/>
          </ac:picMkLst>
        </pc:picChg>
      </pc:sldChg>
      <pc:sldChg chg="modSp mod">
        <pc:chgData name="Ankit Raj Sinha" userId="0c2c692360e9a369" providerId="LiveId" clId="{77E5A1FC-CD9F-4ECA-809B-F7E2B085EFD1}" dt="2026-02-19T18:56:52.312" v="113" actId="14100"/>
        <pc:sldMkLst>
          <pc:docMk/>
          <pc:sldMk cId="3255635211" sldId="273"/>
        </pc:sldMkLst>
        <pc:spChg chg="mod">
          <ac:chgData name="Ankit Raj Sinha" userId="0c2c692360e9a369" providerId="LiveId" clId="{77E5A1FC-CD9F-4ECA-809B-F7E2B085EFD1}" dt="2026-02-19T18:56:21.064" v="109" actId="14100"/>
          <ac:spMkLst>
            <pc:docMk/>
            <pc:sldMk cId="3255635211" sldId="273"/>
            <ac:spMk id="2" creationId="{ADD91773-2DC6-1E41-6E5D-151968FC3872}"/>
          </ac:spMkLst>
        </pc:spChg>
        <pc:spChg chg="mod">
          <ac:chgData name="Ankit Raj Sinha" userId="0c2c692360e9a369" providerId="LiveId" clId="{77E5A1FC-CD9F-4ECA-809B-F7E2B085EFD1}" dt="2026-02-19T18:56:31.423" v="111" actId="1076"/>
          <ac:spMkLst>
            <pc:docMk/>
            <pc:sldMk cId="3255635211" sldId="273"/>
            <ac:spMk id="3" creationId="{B7933F0A-B019-5C8B-801E-FD1425D62CA5}"/>
          </ac:spMkLst>
        </pc:spChg>
        <pc:spChg chg="mod">
          <ac:chgData name="Ankit Raj Sinha" userId="0c2c692360e9a369" providerId="LiveId" clId="{77E5A1FC-CD9F-4ECA-809B-F7E2B085EFD1}" dt="2026-02-19T18:55:25.896" v="103" actId="403"/>
          <ac:spMkLst>
            <pc:docMk/>
            <pc:sldMk cId="3255635211" sldId="273"/>
            <ac:spMk id="7" creationId="{E4C7C8EE-896C-B6AE-F995-9B6C8714B2A9}"/>
          </ac:spMkLst>
        </pc:spChg>
        <pc:picChg chg="mod">
          <ac:chgData name="Ankit Raj Sinha" userId="0c2c692360e9a369" providerId="LiveId" clId="{77E5A1FC-CD9F-4ECA-809B-F7E2B085EFD1}" dt="2026-02-19T18:56:52.312" v="113" actId="14100"/>
          <ac:picMkLst>
            <pc:docMk/>
            <pc:sldMk cId="3255635211" sldId="273"/>
            <ac:picMk id="6" creationId="{67FECB72-2ED1-93BB-5849-5D4984D0404F}"/>
          </ac:picMkLst>
        </pc:picChg>
      </pc:sldChg>
      <pc:sldChg chg="modSp mod">
        <pc:chgData name="Ankit Raj Sinha" userId="0c2c692360e9a369" providerId="LiveId" clId="{77E5A1FC-CD9F-4ECA-809B-F7E2B085EFD1}" dt="2026-02-20T05:16:42.797" v="380" actId="20577"/>
        <pc:sldMkLst>
          <pc:docMk/>
          <pc:sldMk cId="2385659028" sldId="274"/>
        </pc:sldMkLst>
        <pc:spChg chg="mod">
          <ac:chgData name="Ankit Raj Sinha" userId="0c2c692360e9a369" providerId="LiveId" clId="{77E5A1FC-CD9F-4ECA-809B-F7E2B085EFD1}" dt="2026-02-20T05:16:42.797" v="380" actId="20577"/>
          <ac:spMkLst>
            <pc:docMk/>
            <pc:sldMk cId="2385659028" sldId="274"/>
            <ac:spMk id="3" creationId="{433B4D49-EB3F-4D15-E416-FD69FAB622F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E29D056-D2DC-46FC-BE7E-6C71143B39F1}"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7B1946-0A2A-4CBB-9C02-0EFB67F70DDC}" type="slidenum">
              <a:rPr lang="en-IN" smtClean="0"/>
              <a:t>‹#›</a:t>
            </a:fld>
            <a:endParaRPr lang="en-IN"/>
          </a:p>
        </p:txBody>
      </p:sp>
    </p:spTree>
    <p:extLst>
      <p:ext uri="{BB962C8B-B14F-4D97-AF65-F5344CB8AC3E}">
        <p14:creationId xmlns:p14="http://schemas.microsoft.com/office/powerpoint/2010/main" val="2946198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29D056-D2DC-46FC-BE7E-6C71143B39F1}"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7B1946-0A2A-4CBB-9C02-0EFB67F70DDC}" type="slidenum">
              <a:rPr lang="en-IN" smtClean="0"/>
              <a:t>‹#›</a:t>
            </a:fld>
            <a:endParaRPr lang="en-IN"/>
          </a:p>
        </p:txBody>
      </p:sp>
    </p:spTree>
    <p:extLst>
      <p:ext uri="{BB962C8B-B14F-4D97-AF65-F5344CB8AC3E}">
        <p14:creationId xmlns:p14="http://schemas.microsoft.com/office/powerpoint/2010/main" val="2703698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29D056-D2DC-46FC-BE7E-6C71143B39F1}"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7B1946-0A2A-4CBB-9C02-0EFB67F70DDC}" type="slidenum">
              <a:rPr lang="en-IN" smtClean="0"/>
              <a:t>‹#›</a:t>
            </a:fld>
            <a:endParaRPr lang="en-IN"/>
          </a:p>
        </p:txBody>
      </p:sp>
    </p:spTree>
    <p:extLst>
      <p:ext uri="{BB962C8B-B14F-4D97-AF65-F5344CB8AC3E}">
        <p14:creationId xmlns:p14="http://schemas.microsoft.com/office/powerpoint/2010/main" val="2624583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29D056-D2DC-46FC-BE7E-6C71143B39F1}"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7B1946-0A2A-4CBB-9C02-0EFB67F70DDC}" type="slidenum">
              <a:rPr lang="en-IN" smtClean="0"/>
              <a:t>‹#›</a:t>
            </a:fld>
            <a:endParaRPr lang="en-IN"/>
          </a:p>
        </p:txBody>
      </p:sp>
    </p:spTree>
    <p:extLst>
      <p:ext uri="{BB962C8B-B14F-4D97-AF65-F5344CB8AC3E}">
        <p14:creationId xmlns:p14="http://schemas.microsoft.com/office/powerpoint/2010/main" val="318201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29D056-D2DC-46FC-BE7E-6C71143B39F1}" type="datetimeFigureOut">
              <a:rPr lang="en-IN" smtClean="0"/>
              <a:t>20-02-2026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B7B1946-0A2A-4CBB-9C02-0EFB67F70DDC}" type="slidenum">
              <a:rPr lang="en-IN" smtClean="0"/>
              <a:t>‹#›</a:t>
            </a:fld>
            <a:endParaRPr lang="en-IN"/>
          </a:p>
        </p:txBody>
      </p:sp>
    </p:spTree>
    <p:extLst>
      <p:ext uri="{BB962C8B-B14F-4D97-AF65-F5344CB8AC3E}">
        <p14:creationId xmlns:p14="http://schemas.microsoft.com/office/powerpoint/2010/main" val="562117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29D056-D2DC-46FC-BE7E-6C71143B39F1}" type="datetimeFigureOut">
              <a:rPr lang="en-IN" smtClean="0"/>
              <a:t>20-02-2026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7B1946-0A2A-4CBB-9C02-0EFB67F70DDC}" type="slidenum">
              <a:rPr lang="en-IN" smtClean="0"/>
              <a:t>‹#›</a:t>
            </a:fld>
            <a:endParaRPr lang="en-IN"/>
          </a:p>
        </p:txBody>
      </p:sp>
    </p:spTree>
    <p:extLst>
      <p:ext uri="{BB962C8B-B14F-4D97-AF65-F5344CB8AC3E}">
        <p14:creationId xmlns:p14="http://schemas.microsoft.com/office/powerpoint/2010/main" val="4044751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29D056-D2DC-46FC-BE7E-6C71143B39F1}" type="datetimeFigureOut">
              <a:rPr lang="en-IN" smtClean="0"/>
              <a:t>20-02-2026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B7B1946-0A2A-4CBB-9C02-0EFB67F70DDC}" type="slidenum">
              <a:rPr lang="en-IN" smtClean="0"/>
              <a:t>‹#›</a:t>
            </a:fld>
            <a:endParaRPr lang="en-IN"/>
          </a:p>
        </p:txBody>
      </p:sp>
    </p:spTree>
    <p:extLst>
      <p:ext uri="{BB962C8B-B14F-4D97-AF65-F5344CB8AC3E}">
        <p14:creationId xmlns:p14="http://schemas.microsoft.com/office/powerpoint/2010/main" val="4103627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29D056-D2DC-46FC-BE7E-6C71143B39F1}"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7B1946-0A2A-4CBB-9C02-0EFB67F70DDC}" type="slidenum">
              <a:rPr lang="en-IN" smtClean="0"/>
              <a:t>‹#›</a:t>
            </a:fld>
            <a:endParaRPr lang="en-IN"/>
          </a:p>
        </p:txBody>
      </p:sp>
    </p:spTree>
    <p:extLst>
      <p:ext uri="{BB962C8B-B14F-4D97-AF65-F5344CB8AC3E}">
        <p14:creationId xmlns:p14="http://schemas.microsoft.com/office/powerpoint/2010/main" val="1604246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E29D056-D2DC-46FC-BE7E-6C71143B39F1}"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7B1946-0A2A-4CBB-9C02-0EFB67F70DDC}" type="slidenum">
              <a:rPr lang="en-IN" smtClean="0"/>
              <a:t>‹#›</a:t>
            </a:fld>
            <a:endParaRPr lang="en-IN"/>
          </a:p>
        </p:txBody>
      </p:sp>
    </p:spTree>
    <p:extLst>
      <p:ext uri="{BB962C8B-B14F-4D97-AF65-F5344CB8AC3E}">
        <p14:creationId xmlns:p14="http://schemas.microsoft.com/office/powerpoint/2010/main" val="2223448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29D056-D2DC-46FC-BE7E-6C71143B39F1}"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7B1946-0A2A-4CBB-9C02-0EFB67F70DDC}" type="slidenum">
              <a:rPr lang="en-IN" smtClean="0"/>
              <a:t>‹#›</a:t>
            </a:fld>
            <a:endParaRPr lang="en-IN"/>
          </a:p>
        </p:txBody>
      </p:sp>
    </p:spTree>
    <p:extLst>
      <p:ext uri="{BB962C8B-B14F-4D97-AF65-F5344CB8AC3E}">
        <p14:creationId xmlns:p14="http://schemas.microsoft.com/office/powerpoint/2010/main" val="3869014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29D056-D2DC-46FC-BE7E-6C71143B39F1}"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7B1946-0A2A-4CBB-9C02-0EFB67F70DDC}"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4420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29D056-D2DC-46FC-BE7E-6C71143B39F1}"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7B1946-0A2A-4CBB-9C02-0EFB67F70DDC}" type="slidenum">
              <a:rPr lang="en-IN" smtClean="0"/>
              <a:t>‹#›</a:t>
            </a:fld>
            <a:endParaRPr lang="en-IN"/>
          </a:p>
        </p:txBody>
      </p:sp>
    </p:spTree>
    <p:extLst>
      <p:ext uri="{BB962C8B-B14F-4D97-AF65-F5344CB8AC3E}">
        <p14:creationId xmlns:p14="http://schemas.microsoft.com/office/powerpoint/2010/main" val="38243037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29D056-D2DC-46FC-BE7E-6C71143B39F1}"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7B1946-0A2A-4CBB-9C02-0EFB67F70DD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571033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29D056-D2DC-46FC-BE7E-6C71143B39F1}"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7B1946-0A2A-4CBB-9C02-0EFB67F70DDC}" type="slidenum">
              <a:rPr lang="en-IN" smtClean="0"/>
              <a:t>‹#›</a:t>
            </a:fld>
            <a:endParaRPr lang="en-IN"/>
          </a:p>
        </p:txBody>
      </p:sp>
    </p:spTree>
    <p:extLst>
      <p:ext uri="{BB962C8B-B14F-4D97-AF65-F5344CB8AC3E}">
        <p14:creationId xmlns:p14="http://schemas.microsoft.com/office/powerpoint/2010/main" val="40273793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29D056-D2DC-46FC-BE7E-6C71143B39F1}"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7B1946-0A2A-4CBB-9C02-0EFB67F70DDC}" type="slidenum">
              <a:rPr lang="en-IN" smtClean="0"/>
              <a:t>‹#›</a:t>
            </a:fld>
            <a:endParaRPr lang="en-IN"/>
          </a:p>
        </p:txBody>
      </p:sp>
    </p:spTree>
    <p:extLst>
      <p:ext uri="{BB962C8B-B14F-4D97-AF65-F5344CB8AC3E}">
        <p14:creationId xmlns:p14="http://schemas.microsoft.com/office/powerpoint/2010/main" val="41709532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29D056-D2DC-46FC-BE7E-6C71143B39F1}"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7B1946-0A2A-4CBB-9C02-0EFB67F70DDC}" type="slidenum">
              <a:rPr lang="en-IN" smtClean="0"/>
              <a:t>‹#›</a:t>
            </a:fld>
            <a:endParaRPr lang="en-IN"/>
          </a:p>
        </p:txBody>
      </p:sp>
    </p:spTree>
    <p:extLst>
      <p:ext uri="{BB962C8B-B14F-4D97-AF65-F5344CB8AC3E}">
        <p14:creationId xmlns:p14="http://schemas.microsoft.com/office/powerpoint/2010/main" val="4174657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E29D056-D2DC-46FC-BE7E-6C71143B39F1}" type="datetimeFigureOut">
              <a:rPr lang="en-IN" smtClean="0"/>
              <a:t>20-02-2026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B7B1946-0A2A-4CBB-9C02-0EFB67F70DDC}" type="slidenum">
              <a:rPr lang="en-IN" smtClean="0"/>
              <a:t>‹#›</a:t>
            </a:fld>
            <a:endParaRPr lang="en-IN"/>
          </a:p>
        </p:txBody>
      </p:sp>
    </p:spTree>
    <p:extLst>
      <p:ext uri="{BB962C8B-B14F-4D97-AF65-F5344CB8AC3E}">
        <p14:creationId xmlns:p14="http://schemas.microsoft.com/office/powerpoint/2010/main" val="13766606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Ankitsinha278/Purchase-Pattern-Analysi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25B0-B29B-11D4-5C1F-5901009F29B5}"/>
              </a:ext>
            </a:extLst>
          </p:cNvPr>
          <p:cNvSpPr>
            <a:spLocks noGrp="1"/>
          </p:cNvSpPr>
          <p:nvPr>
            <p:ph type="ctrTitle"/>
          </p:nvPr>
        </p:nvSpPr>
        <p:spPr>
          <a:xfrm>
            <a:off x="1083212" y="436099"/>
            <a:ext cx="8190791" cy="1962516"/>
          </a:xfrm>
          <a:solidFill>
            <a:schemeClr val="accent6">
              <a:lumMod val="20000"/>
              <a:lumOff val="80000"/>
            </a:schemeClr>
          </a:solidFill>
        </p:spPr>
        <p:txBody>
          <a:bodyPr>
            <a:normAutofit fontScale="90000"/>
          </a:bodyPr>
          <a:lstStyle/>
          <a:p>
            <a:pPr algn="ctr"/>
            <a:r>
              <a:rPr lang="en-IN" sz="6600" b="1" dirty="0">
                <a:solidFill>
                  <a:schemeClr val="accent3">
                    <a:lumMod val="75000"/>
                  </a:schemeClr>
                </a:solidFill>
              </a:rPr>
              <a:t>Final Project Documentation</a:t>
            </a:r>
          </a:p>
        </p:txBody>
      </p:sp>
      <p:sp>
        <p:nvSpPr>
          <p:cNvPr id="3" name="Subtitle 2">
            <a:extLst>
              <a:ext uri="{FF2B5EF4-FFF2-40B4-BE49-F238E27FC236}">
                <a16:creationId xmlns:a16="http://schemas.microsoft.com/office/drawing/2014/main" id="{4A5C0573-A11D-14EE-90D7-4DA60529320B}"/>
              </a:ext>
            </a:extLst>
          </p:cNvPr>
          <p:cNvSpPr>
            <a:spLocks noGrp="1"/>
          </p:cNvSpPr>
          <p:nvPr>
            <p:ph type="subTitle" idx="1"/>
          </p:nvPr>
        </p:nvSpPr>
        <p:spPr>
          <a:xfrm>
            <a:off x="1507067" y="3006969"/>
            <a:ext cx="7766936" cy="1353943"/>
          </a:xfrm>
        </p:spPr>
        <p:txBody>
          <a:bodyPr>
            <a:normAutofit/>
          </a:bodyPr>
          <a:lstStyle/>
          <a:p>
            <a:pPr algn="l"/>
            <a:r>
              <a:rPr lang="en-IN" sz="3200" b="1" dirty="0">
                <a:latin typeface="Bahnschrift" panose="020B0502040204020203" pitchFamily="34" charset="0"/>
              </a:rPr>
              <a:t>Purchase Pattern Analysis using Market Basket Analysis</a:t>
            </a:r>
          </a:p>
          <a:p>
            <a:pPr algn="l"/>
            <a:endParaRPr lang="en-IN" sz="3200" b="1" dirty="0">
              <a:latin typeface="Bahnschrift" panose="020B0502040204020203" pitchFamily="34" charset="0"/>
            </a:endParaRPr>
          </a:p>
        </p:txBody>
      </p:sp>
      <p:sp>
        <p:nvSpPr>
          <p:cNvPr id="4" name="TextBox 3">
            <a:extLst>
              <a:ext uri="{FF2B5EF4-FFF2-40B4-BE49-F238E27FC236}">
                <a16:creationId xmlns:a16="http://schemas.microsoft.com/office/drawing/2014/main" id="{6D6D769D-33E2-BBE1-FADA-B6001016C7AD}"/>
              </a:ext>
            </a:extLst>
          </p:cNvPr>
          <p:cNvSpPr txBox="1"/>
          <p:nvPr/>
        </p:nvSpPr>
        <p:spPr>
          <a:xfrm>
            <a:off x="295421" y="4806773"/>
            <a:ext cx="4417256" cy="1754326"/>
          </a:xfrm>
          <a:prstGeom prst="rect">
            <a:avLst/>
          </a:prstGeom>
          <a:solidFill>
            <a:schemeClr val="accent1">
              <a:lumMod val="20000"/>
              <a:lumOff val="80000"/>
            </a:schemeClr>
          </a:solidFill>
        </p:spPr>
        <p:txBody>
          <a:bodyPr wrap="square" rtlCol="0">
            <a:spAutoFit/>
          </a:bodyPr>
          <a:lstStyle/>
          <a:p>
            <a:r>
              <a:rPr lang="en-US" b="1" dirty="0">
                <a:solidFill>
                  <a:srgbClr val="7030A0"/>
                </a:solidFill>
              </a:rPr>
              <a:t>Project Id </a:t>
            </a:r>
            <a:r>
              <a:rPr lang="en-US" dirty="0"/>
              <a:t>:  CDACL005 (Client Project)</a:t>
            </a:r>
          </a:p>
          <a:p>
            <a:r>
              <a:rPr lang="en-IN" b="1" dirty="0">
                <a:solidFill>
                  <a:srgbClr val="7030A0"/>
                </a:solidFill>
              </a:rPr>
              <a:t>Project Team ID </a:t>
            </a:r>
            <a:r>
              <a:rPr lang="en-IN" dirty="0"/>
              <a:t>:  PTID-CDA-DEC-25-958</a:t>
            </a:r>
          </a:p>
          <a:p>
            <a:r>
              <a:rPr lang="en-IN" b="1" dirty="0">
                <a:solidFill>
                  <a:srgbClr val="7030A0"/>
                </a:solidFill>
              </a:rPr>
              <a:t>Members:</a:t>
            </a:r>
            <a:endParaRPr lang="en-US" b="1" dirty="0">
              <a:solidFill>
                <a:srgbClr val="7030A0"/>
              </a:solidFill>
            </a:endParaRPr>
          </a:p>
          <a:p>
            <a:pPr marL="285750" indent="-285750">
              <a:buFont typeface="Arial" panose="020B0604020202020204" pitchFamily="34" charset="0"/>
              <a:buChar char="•"/>
            </a:pPr>
            <a:r>
              <a:rPr lang="en-US" dirty="0">
                <a:solidFill>
                  <a:schemeClr val="tx1">
                    <a:lumMod val="85000"/>
                    <a:lumOff val="15000"/>
                  </a:schemeClr>
                </a:solidFill>
              </a:rPr>
              <a:t>Ankit Raj Sinha</a:t>
            </a:r>
          </a:p>
          <a:p>
            <a:pPr marL="285750" indent="-285750">
              <a:buFont typeface="Arial" panose="020B0604020202020204" pitchFamily="34" charset="0"/>
              <a:buChar char="•"/>
            </a:pPr>
            <a:r>
              <a:rPr lang="en-IN" dirty="0">
                <a:solidFill>
                  <a:schemeClr val="tx1">
                    <a:lumMod val="85000"/>
                    <a:lumOff val="15000"/>
                  </a:schemeClr>
                </a:solidFill>
              </a:rPr>
              <a:t>Lolla Venkata Surya Sudheer Kumar</a:t>
            </a:r>
          </a:p>
          <a:p>
            <a:pPr marL="285750" indent="-285750">
              <a:buFont typeface="Arial" panose="020B0604020202020204" pitchFamily="34" charset="0"/>
              <a:buChar char="•"/>
            </a:pPr>
            <a:r>
              <a:rPr lang="en-US" dirty="0" err="1">
                <a:solidFill>
                  <a:schemeClr val="tx1">
                    <a:lumMod val="85000"/>
                    <a:lumOff val="15000"/>
                  </a:schemeClr>
                </a:solidFill>
              </a:rPr>
              <a:t>Gangula</a:t>
            </a:r>
            <a:r>
              <a:rPr lang="en-US" dirty="0">
                <a:solidFill>
                  <a:schemeClr val="tx1">
                    <a:lumMod val="85000"/>
                    <a:lumOff val="15000"/>
                  </a:schemeClr>
                </a:solidFill>
              </a:rPr>
              <a:t> Padma</a:t>
            </a:r>
          </a:p>
        </p:txBody>
      </p:sp>
    </p:spTree>
    <p:extLst>
      <p:ext uri="{BB962C8B-B14F-4D97-AF65-F5344CB8AC3E}">
        <p14:creationId xmlns:p14="http://schemas.microsoft.com/office/powerpoint/2010/main" val="1572741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051E9-39E1-8E5E-26AA-CFC824587B47}"/>
              </a:ext>
            </a:extLst>
          </p:cNvPr>
          <p:cNvSpPr>
            <a:spLocks noGrp="1"/>
          </p:cNvSpPr>
          <p:nvPr>
            <p:ph type="title"/>
          </p:nvPr>
        </p:nvSpPr>
        <p:spPr>
          <a:xfrm>
            <a:off x="0" y="95535"/>
            <a:ext cx="12192000" cy="777921"/>
          </a:xfrm>
          <a:solidFill>
            <a:schemeClr val="accent6">
              <a:lumMod val="40000"/>
              <a:lumOff val="60000"/>
            </a:schemeClr>
          </a:solidFill>
        </p:spPr>
        <p:txBody>
          <a:bodyPr/>
          <a:lstStyle/>
          <a:p>
            <a:r>
              <a:rPr lang="en-IN" b="1" dirty="0">
                <a:solidFill>
                  <a:schemeClr val="accent2">
                    <a:lumMod val="75000"/>
                  </a:schemeClr>
                </a:solidFill>
              </a:rPr>
              <a:t>     </a:t>
            </a:r>
            <a:r>
              <a:rPr lang="en-IN" b="1" u="sng" dirty="0">
                <a:solidFill>
                  <a:schemeClr val="accent2">
                    <a:lumMod val="75000"/>
                  </a:schemeClr>
                </a:solidFill>
              </a:rPr>
              <a:t>Project Overview</a:t>
            </a:r>
          </a:p>
        </p:txBody>
      </p:sp>
      <p:sp>
        <p:nvSpPr>
          <p:cNvPr id="3" name="Content Placeholder 2">
            <a:extLst>
              <a:ext uri="{FF2B5EF4-FFF2-40B4-BE49-F238E27FC236}">
                <a16:creationId xmlns:a16="http://schemas.microsoft.com/office/drawing/2014/main" id="{1428A657-2457-5B4D-F85C-53B111AB76C0}"/>
              </a:ext>
            </a:extLst>
          </p:cNvPr>
          <p:cNvSpPr>
            <a:spLocks noGrp="1"/>
          </p:cNvSpPr>
          <p:nvPr>
            <p:ph idx="1"/>
          </p:nvPr>
        </p:nvSpPr>
        <p:spPr>
          <a:xfrm>
            <a:off x="838200" y="1084995"/>
            <a:ext cx="10515600" cy="5882186"/>
          </a:xfrm>
        </p:spPr>
        <p:txBody>
          <a:bodyPr>
            <a:normAutofit/>
          </a:bodyPr>
          <a:lstStyle/>
          <a:p>
            <a:pPr marL="0" indent="0">
              <a:buNone/>
            </a:pPr>
            <a:r>
              <a:rPr lang="en-US" sz="2000" b="1" dirty="0">
                <a:solidFill>
                  <a:schemeClr val="accent1">
                    <a:lumMod val="50000"/>
                  </a:schemeClr>
                </a:solidFill>
              </a:rPr>
              <a:t>Project Title:</a:t>
            </a:r>
            <a:r>
              <a:rPr lang="en-US" sz="2000" dirty="0">
                <a:solidFill>
                  <a:schemeClr val="accent1">
                    <a:lumMod val="50000"/>
                  </a:schemeClr>
                </a:solidFill>
              </a:rPr>
              <a:t> </a:t>
            </a:r>
            <a:r>
              <a:rPr lang="en-US" dirty="0"/>
              <a:t>Purchase Pattern Analysis</a:t>
            </a:r>
          </a:p>
          <a:p>
            <a:pPr marL="0" indent="0">
              <a:buNone/>
            </a:pPr>
            <a:endParaRPr lang="en-US" dirty="0"/>
          </a:p>
          <a:p>
            <a:pPr marL="0" indent="0">
              <a:buNone/>
            </a:pPr>
            <a:r>
              <a:rPr lang="en-IN" sz="2000" b="1" dirty="0">
                <a:solidFill>
                  <a:schemeClr val="accent1">
                    <a:lumMod val="50000"/>
                  </a:schemeClr>
                </a:solidFill>
              </a:rPr>
              <a:t>Project Objective:</a:t>
            </a:r>
          </a:p>
          <a:p>
            <a:pPr marL="0" indent="0">
              <a:buNone/>
            </a:pPr>
            <a:r>
              <a:rPr lang="en-US" sz="2000" dirty="0"/>
              <a:t>The objective of this project is to analyze customer purchasing behavior using transactional retail data and identify hidden product relationships. The project aims to discover frequently purchased product combinations and generate actionable insights that support cross-selling, inventory optimization, and data-driven business decision-making.</a:t>
            </a:r>
          </a:p>
          <a:p>
            <a:pPr marL="0" indent="0">
              <a:buNone/>
            </a:pPr>
            <a:r>
              <a:rPr lang="en-IN" sz="2000" b="1" dirty="0">
                <a:solidFill>
                  <a:schemeClr val="accent1">
                    <a:lumMod val="50000"/>
                  </a:schemeClr>
                </a:solidFill>
              </a:rPr>
              <a:t>Business Problem Statement</a:t>
            </a:r>
            <a:r>
              <a:rPr lang="en-IN" b="1" dirty="0">
                <a:solidFill>
                  <a:schemeClr val="accent1">
                    <a:lumMod val="50000"/>
                  </a:schemeClr>
                </a:solidFill>
              </a:rPr>
              <a:t>:</a:t>
            </a:r>
          </a:p>
          <a:p>
            <a:pPr marL="0" indent="0">
              <a:buNone/>
            </a:pPr>
            <a:r>
              <a:rPr lang="en-US" sz="2000" dirty="0"/>
              <a:t>Retail businesses often struggle to understand which products are purchased together. Without data-driven insights, cross-selling opportunities, store layout planning, and promotional strategies remain inefficient. This project addresses the challenge by applying Market Basket Analysis to uncover strong product associations and improve revenue performance.</a:t>
            </a:r>
            <a:endParaRPr lang="en-IN" sz="2000" b="1" dirty="0">
              <a:solidFill>
                <a:schemeClr val="accent1">
                  <a:lumMod val="50000"/>
                </a:schemeClr>
              </a:solidFill>
            </a:endParaRPr>
          </a:p>
        </p:txBody>
      </p:sp>
    </p:spTree>
    <p:extLst>
      <p:ext uri="{BB962C8B-B14F-4D97-AF65-F5344CB8AC3E}">
        <p14:creationId xmlns:p14="http://schemas.microsoft.com/office/powerpoint/2010/main" val="1405030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9D14F-DCDB-4B6D-82CE-CA5CA26FB7BC}"/>
              </a:ext>
            </a:extLst>
          </p:cNvPr>
          <p:cNvSpPr>
            <a:spLocks noGrp="1"/>
          </p:cNvSpPr>
          <p:nvPr>
            <p:ph type="title"/>
          </p:nvPr>
        </p:nvSpPr>
        <p:spPr>
          <a:xfrm>
            <a:off x="0" y="255943"/>
            <a:ext cx="12192000" cy="904117"/>
          </a:xfrm>
          <a:solidFill>
            <a:schemeClr val="accent6">
              <a:lumMod val="40000"/>
              <a:lumOff val="60000"/>
            </a:schemeClr>
          </a:solidFill>
        </p:spPr>
        <p:txBody>
          <a:bodyPr/>
          <a:lstStyle/>
          <a:p>
            <a:r>
              <a:rPr lang="en-IN" b="1" dirty="0">
                <a:solidFill>
                  <a:schemeClr val="accent2">
                    <a:lumMod val="75000"/>
                  </a:schemeClr>
                </a:solidFill>
              </a:rPr>
              <a:t>     </a:t>
            </a:r>
            <a:r>
              <a:rPr lang="en-IN" b="1" u="sng" dirty="0">
                <a:solidFill>
                  <a:schemeClr val="accent2">
                    <a:lumMod val="75000"/>
                  </a:schemeClr>
                </a:solidFill>
              </a:rPr>
              <a:t>Dataset Description</a:t>
            </a:r>
          </a:p>
        </p:txBody>
      </p:sp>
      <p:sp>
        <p:nvSpPr>
          <p:cNvPr id="3" name="Content Placeholder 2">
            <a:extLst>
              <a:ext uri="{FF2B5EF4-FFF2-40B4-BE49-F238E27FC236}">
                <a16:creationId xmlns:a16="http://schemas.microsoft.com/office/drawing/2014/main" id="{E7690C93-4B2B-1997-A763-1FEF7444FF4C}"/>
              </a:ext>
            </a:extLst>
          </p:cNvPr>
          <p:cNvSpPr>
            <a:spLocks noGrp="1"/>
          </p:cNvSpPr>
          <p:nvPr>
            <p:ph idx="1"/>
          </p:nvPr>
        </p:nvSpPr>
        <p:spPr>
          <a:xfrm>
            <a:off x="838200" y="1675500"/>
            <a:ext cx="10515600" cy="4698004"/>
          </a:xfrm>
        </p:spPr>
        <p:txBody>
          <a:bodyPr>
            <a:normAutofit/>
          </a:bodyPr>
          <a:lstStyle/>
          <a:p>
            <a:r>
              <a:rPr lang="en-IN" sz="2400" dirty="0"/>
              <a:t>Approximately 500,000 transaction records</a:t>
            </a:r>
          </a:p>
          <a:p>
            <a:r>
              <a:rPr lang="en-IN" sz="2400" dirty="0"/>
              <a:t>Time Period: 2010–2011</a:t>
            </a:r>
          </a:p>
          <a:p>
            <a:r>
              <a:rPr lang="en-IN" sz="2400" dirty="0"/>
              <a:t>Features:</a:t>
            </a:r>
          </a:p>
          <a:p>
            <a:pPr lvl="1"/>
            <a:r>
              <a:rPr lang="en-IN" sz="2000" dirty="0" err="1"/>
              <a:t>BillNo</a:t>
            </a:r>
            <a:endParaRPr lang="en-IN" sz="2000" dirty="0"/>
          </a:p>
          <a:p>
            <a:pPr lvl="1"/>
            <a:r>
              <a:rPr lang="en-IN" sz="2000" dirty="0" err="1"/>
              <a:t>ItemName</a:t>
            </a:r>
            <a:endParaRPr lang="en-IN" sz="2000" dirty="0"/>
          </a:p>
          <a:p>
            <a:pPr lvl="1"/>
            <a:r>
              <a:rPr lang="en-IN" sz="2000" dirty="0"/>
              <a:t>Quantity</a:t>
            </a:r>
          </a:p>
          <a:p>
            <a:pPr lvl="1"/>
            <a:r>
              <a:rPr lang="en-IN" sz="2000" dirty="0"/>
              <a:t>Price</a:t>
            </a:r>
          </a:p>
          <a:p>
            <a:pPr lvl="1"/>
            <a:r>
              <a:rPr lang="en-IN" sz="2000" dirty="0"/>
              <a:t>CustomerId</a:t>
            </a:r>
          </a:p>
          <a:p>
            <a:pPr lvl="1"/>
            <a:r>
              <a:rPr lang="en-IN" sz="2000" dirty="0"/>
              <a:t>Country </a:t>
            </a:r>
          </a:p>
          <a:p>
            <a:pPr lvl="1"/>
            <a:r>
              <a:rPr lang="en-IN" sz="2000" dirty="0" err="1"/>
              <a:t>InvoiceDate</a:t>
            </a:r>
            <a:endParaRPr lang="en-IN" sz="2000" dirty="0"/>
          </a:p>
          <a:p>
            <a:pPr lvl="1"/>
            <a:endParaRPr lang="en-IN" dirty="0"/>
          </a:p>
        </p:txBody>
      </p:sp>
    </p:spTree>
    <p:extLst>
      <p:ext uri="{BB962C8B-B14F-4D97-AF65-F5344CB8AC3E}">
        <p14:creationId xmlns:p14="http://schemas.microsoft.com/office/powerpoint/2010/main" val="645947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5EBF1-5B04-B438-651A-1A21080FECD9}"/>
              </a:ext>
            </a:extLst>
          </p:cNvPr>
          <p:cNvSpPr>
            <a:spLocks noGrp="1"/>
          </p:cNvSpPr>
          <p:nvPr>
            <p:ph type="title"/>
          </p:nvPr>
        </p:nvSpPr>
        <p:spPr>
          <a:xfrm>
            <a:off x="0" y="18255"/>
            <a:ext cx="12192000" cy="896145"/>
          </a:xfrm>
          <a:solidFill>
            <a:schemeClr val="accent6">
              <a:lumMod val="40000"/>
              <a:lumOff val="60000"/>
            </a:schemeClr>
          </a:solidFill>
        </p:spPr>
        <p:txBody>
          <a:bodyPr/>
          <a:lstStyle/>
          <a:p>
            <a:r>
              <a:rPr lang="en-IN" b="1" dirty="0">
                <a:solidFill>
                  <a:schemeClr val="accent2">
                    <a:lumMod val="75000"/>
                  </a:schemeClr>
                </a:solidFill>
              </a:rPr>
              <a:t>     </a:t>
            </a:r>
            <a:r>
              <a:rPr lang="en-IN" b="1" u="sng" dirty="0">
                <a:solidFill>
                  <a:schemeClr val="accent2">
                    <a:lumMod val="75000"/>
                  </a:schemeClr>
                </a:solidFill>
              </a:rPr>
              <a:t>Data Cleaning &amp; Preprocessing</a:t>
            </a:r>
          </a:p>
        </p:txBody>
      </p:sp>
      <p:sp>
        <p:nvSpPr>
          <p:cNvPr id="3" name="Content Placeholder 2">
            <a:extLst>
              <a:ext uri="{FF2B5EF4-FFF2-40B4-BE49-F238E27FC236}">
                <a16:creationId xmlns:a16="http://schemas.microsoft.com/office/drawing/2014/main" id="{765BABA3-F32F-E5DD-E1A2-91CC812B4CA8}"/>
              </a:ext>
            </a:extLst>
          </p:cNvPr>
          <p:cNvSpPr>
            <a:spLocks noGrp="1"/>
          </p:cNvSpPr>
          <p:nvPr>
            <p:ph idx="1"/>
          </p:nvPr>
        </p:nvSpPr>
        <p:spPr>
          <a:xfrm>
            <a:off x="613117" y="1105469"/>
            <a:ext cx="10515600" cy="5752531"/>
          </a:xfrm>
        </p:spPr>
        <p:txBody>
          <a:bodyPr>
            <a:normAutofit lnSpcReduction="10000"/>
          </a:bodyPr>
          <a:lstStyle/>
          <a:p>
            <a:pPr marL="514350" indent="-514350">
              <a:buFont typeface="+mj-lt"/>
              <a:buAutoNum type="arabicPeriod"/>
            </a:pPr>
            <a:r>
              <a:rPr lang="en-IN" sz="2400" dirty="0">
                <a:solidFill>
                  <a:schemeClr val="accent1"/>
                </a:solidFill>
              </a:rPr>
              <a:t>Data Cleaning Steps:</a:t>
            </a:r>
          </a:p>
          <a:p>
            <a:pPr lvl="1"/>
            <a:r>
              <a:rPr lang="en-US" sz="2000" dirty="0"/>
              <a:t>Removed transactions with negative quantities (returns)</a:t>
            </a:r>
          </a:p>
          <a:p>
            <a:pPr lvl="1"/>
            <a:r>
              <a:rPr lang="en-US" sz="2000" dirty="0"/>
              <a:t>Removed cancelled invoices (starting with 'C’)</a:t>
            </a:r>
          </a:p>
          <a:p>
            <a:pPr lvl="1"/>
            <a:r>
              <a:rPr lang="en-US" sz="2000" dirty="0"/>
              <a:t>Dropped records with missing </a:t>
            </a:r>
            <a:r>
              <a:rPr lang="en-US" sz="2000" dirty="0" err="1"/>
              <a:t>ItemName</a:t>
            </a:r>
            <a:endParaRPr lang="en-US" sz="2000" dirty="0"/>
          </a:p>
          <a:p>
            <a:pPr marL="514350" indent="-514350">
              <a:buFont typeface="+mj-lt"/>
              <a:buAutoNum type="arabicPeriod"/>
            </a:pPr>
            <a:r>
              <a:rPr lang="en-IN" sz="2400" dirty="0">
                <a:solidFill>
                  <a:schemeClr val="accent1"/>
                </a:solidFill>
              </a:rPr>
              <a:t>Product Filtering:</a:t>
            </a:r>
          </a:p>
          <a:p>
            <a:pPr lvl="1"/>
            <a:r>
              <a:rPr lang="en-US" sz="2000" dirty="0"/>
              <a:t>Selected Top 500 most frequently purchased products</a:t>
            </a:r>
          </a:p>
          <a:p>
            <a:pPr lvl="1"/>
            <a:r>
              <a:rPr lang="en-US" sz="2000" dirty="0"/>
              <a:t>Removed single-item transactions to improve association rule quality</a:t>
            </a:r>
          </a:p>
          <a:p>
            <a:pPr marL="514350" indent="-514350">
              <a:buFont typeface="+mj-lt"/>
              <a:buAutoNum type="arabicPeriod"/>
            </a:pPr>
            <a:r>
              <a:rPr lang="en-IN" sz="2400" dirty="0">
                <a:solidFill>
                  <a:schemeClr val="accent1"/>
                </a:solidFill>
              </a:rPr>
              <a:t>Data Transformation:</a:t>
            </a:r>
          </a:p>
          <a:p>
            <a:pPr lvl="1"/>
            <a:r>
              <a:rPr lang="en-IN" sz="2000" dirty="0"/>
              <a:t>Created Transaction–Product Matrix</a:t>
            </a:r>
          </a:p>
          <a:p>
            <a:pPr lvl="1"/>
            <a:r>
              <a:rPr lang="en-US" sz="2000" dirty="0"/>
              <a:t>Converted quantity matrix into Binary Basket Matrix (1 = Purchased, 0 = Not Purchased)</a:t>
            </a:r>
            <a:endParaRPr lang="en-IN" sz="2000" dirty="0">
              <a:solidFill>
                <a:schemeClr val="accent1">
                  <a:lumMod val="50000"/>
                </a:schemeClr>
              </a:solidFill>
            </a:endParaRPr>
          </a:p>
          <a:p>
            <a:pPr marL="0" indent="0">
              <a:buNone/>
            </a:pPr>
            <a:endParaRPr lang="en-IN" dirty="0">
              <a:solidFill>
                <a:schemeClr val="accent1">
                  <a:lumMod val="50000"/>
                </a:schemeClr>
              </a:solidFill>
            </a:endParaRPr>
          </a:p>
          <a:p>
            <a:pPr>
              <a:buFont typeface="Wingdings" panose="05000000000000000000" pitchFamily="2" charset="2"/>
              <a:buChar char="v"/>
            </a:pPr>
            <a:r>
              <a:rPr lang="en-US" sz="2400" dirty="0"/>
              <a:t>   This transformation was required for </a:t>
            </a:r>
            <a:r>
              <a:rPr lang="en-US" sz="2400" dirty="0" err="1"/>
              <a:t>Apriori</a:t>
            </a:r>
            <a:r>
              <a:rPr lang="en-US" sz="2400" dirty="0"/>
              <a:t> algorithm implementation.</a:t>
            </a:r>
          </a:p>
        </p:txBody>
      </p:sp>
    </p:spTree>
    <p:extLst>
      <p:ext uri="{BB962C8B-B14F-4D97-AF65-F5344CB8AC3E}">
        <p14:creationId xmlns:p14="http://schemas.microsoft.com/office/powerpoint/2010/main" val="1054545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567D4-F963-2149-F329-BAD9A60D825A}"/>
              </a:ext>
            </a:extLst>
          </p:cNvPr>
          <p:cNvSpPr>
            <a:spLocks noGrp="1"/>
          </p:cNvSpPr>
          <p:nvPr>
            <p:ph type="title"/>
          </p:nvPr>
        </p:nvSpPr>
        <p:spPr>
          <a:xfrm>
            <a:off x="0" y="0"/>
            <a:ext cx="12192000" cy="753991"/>
          </a:xfrm>
          <a:solidFill>
            <a:schemeClr val="bg2">
              <a:lumMod val="90000"/>
            </a:schemeClr>
          </a:solidFill>
        </p:spPr>
        <p:txBody>
          <a:bodyPr/>
          <a:lstStyle/>
          <a:p>
            <a:r>
              <a:rPr lang="en-IN" b="1" u="sng" dirty="0">
                <a:solidFill>
                  <a:schemeClr val="accent2">
                    <a:lumMod val="50000"/>
                  </a:schemeClr>
                </a:solidFill>
              </a:rPr>
              <a:t>Exploratory Data Analysis (EDA)</a:t>
            </a:r>
          </a:p>
        </p:txBody>
      </p:sp>
      <p:sp>
        <p:nvSpPr>
          <p:cNvPr id="3" name="Content Placeholder 2">
            <a:extLst>
              <a:ext uri="{FF2B5EF4-FFF2-40B4-BE49-F238E27FC236}">
                <a16:creationId xmlns:a16="http://schemas.microsoft.com/office/drawing/2014/main" id="{9DF4E9AA-35A1-26DA-5D3A-2564F78E5B04}"/>
              </a:ext>
            </a:extLst>
          </p:cNvPr>
          <p:cNvSpPr>
            <a:spLocks noGrp="1"/>
          </p:cNvSpPr>
          <p:nvPr>
            <p:ph idx="1"/>
          </p:nvPr>
        </p:nvSpPr>
        <p:spPr>
          <a:xfrm>
            <a:off x="163773" y="968991"/>
            <a:ext cx="12028227" cy="5755896"/>
          </a:xfrm>
        </p:spPr>
        <p:txBody>
          <a:bodyPr/>
          <a:lstStyle/>
          <a:p>
            <a:pPr marL="0" indent="0">
              <a:buNone/>
            </a:pPr>
            <a:endParaRPr lang="en-IN" u="sng" dirty="0">
              <a:solidFill>
                <a:schemeClr val="accent5">
                  <a:lumMod val="50000"/>
                </a:schemeClr>
              </a:solidFill>
            </a:endParaRPr>
          </a:p>
          <a:p>
            <a:pPr marL="0" indent="0">
              <a:buNone/>
            </a:pPr>
            <a:endParaRPr lang="en-IN" u="sng" dirty="0">
              <a:solidFill>
                <a:schemeClr val="accent5">
                  <a:lumMod val="50000"/>
                </a:schemeClr>
              </a:solidFill>
            </a:endParaRPr>
          </a:p>
        </p:txBody>
      </p:sp>
      <p:pic>
        <p:nvPicPr>
          <p:cNvPr id="4" name="Picture 3">
            <a:extLst>
              <a:ext uri="{FF2B5EF4-FFF2-40B4-BE49-F238E27FC236}">
                <a16:creationId xmlns:a16="http://schemas.microsoft.com/office/drawing/2014/main" id="{0D08EECE-9DA5-3634-7795-D13B0F5BCE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989" y="1657353"/>
            <a:ext cx="7012577" cy="5148613"/>
          </a:xfrm>
          <a:prstGeom prst="rect">
            <a:avLst/>
          </a:prstGeom>
        </p:spPr>
      </p:pic>
      <p:sp>
        <p:nvSpPr>
          <p:cNvPr id="5" name="TextBox 4">
            <a:extLst>
              <a:ext uri="{FF2B5EF4-FFF2-40B4-BE49-F238E27FC236}">
                <a16:creationId xmlns:a16="http://schemas.microsoft.com/office/drawing/2014/main" id="{12CD2154-0A13-E5AD-98D1-BB3B30021CD9}"/>
              </a:ext>
            </a:extLst>
          </p:cNvPr>
          <p:cNvSpPr txBox="1"/>
          <p:nvPr/>
        </p:nvSpPr>
        <p:spPr>
          <a:xfrm>
            <a:off x="7498080" y="1657353"/>
            <a:ext cx="4349931" cy="4893647"/>
          </a:xfrm>
          <a:prstGeom prst="rect">
            <a:avLst/>
          </a:prstGeom>
          <a:solidFill>
            <a:schemeClr val="accent6">
              <a:lumMod val="40000"/>
              <a:lumOff val="60000"/>
            </a:schemeClr>
          </a:solidFill>
        </p:spPr>
        <p:txBody>
          <a:bodyPr wrap="square" rtlCol="0">
            <a:spAutoFit/>
          </a:bodyPr>
          <a:lstStyle/>
          <a:p>
            <a:r>
              <a:rPr lang="en-US" sz="2400" b="1" u="sng" dirty="0">
                <a:solidFill>
                  <a:schemeClr val="accent5">
                    <a:lumMod val="50000"/>
                  </a:schemeClr>
                </a:solidFill>
              </a:rPr>
              <a:t>Insights:</a:t>
            </a:r>
          </a:p>
          <a:p>
            <a:pPr marL="285750" indent="-285750">
              <a:buFont typeface="Arial" panose="020B0604020202020204" pitchFamily="34" charset="0"/>
              <a:buChar char="•"/>
            </a:pPr>
            <a:r>
              <a:rPr lang="en-US" b="0" i="0" dirty="0">
                <a:effectLst/>
                <a:latin typeface="system-ui"/>
              </a:rPr>
              <a:t>From the month of January to May there is inconsistent customer purchasing behavior due to absence of Strong seasonal demand</a:t>
            </a:r>
            <a:r>
              <a:rPr lang="en-IN" b="1" dirty="0">
                <a:solidFill>
                  <a:schemeClr val="accent5">
                    <a:lumMod val="50000"/>
                  </a:schemeClr>
                </a:solidFill>
                <a:latin typeface="system-ui"/>
              </a:rPr>
              <a:t>.</a:t>
            </a:r>
          </a:p>
          <a:p>
            <a:pPr marL="285750" indent="-285750">
              <a:buFont typeface="Arial" panose="020B0604020202020204" pitchFamily="34" charset="0"/>
              <a:buChar char="•"/>
            </a:pPr>
            <a:endParaRPr lang="en-IN" b="1" dirty="0">
              <a:solidFill>
                <a:schemeClr val="accent5">
                  <a:lumMod val="50000"/>
                </a:schemeClr>
              </a:solidFill>
              <a:latin typeface="system-ui"/>
            </a:endParaRPr>
          </a:p>
          <a:p>
            <a:pPr marL="285750" indent="-285750">
              <a:buFont typeface="Arial" panose="020B0604020202020204" pitchFamily="34" charset="0"/>
              <a:buChar char="•"/>
            </a:pPr>
            <a:r>
              <a:rPr lang="en-US" b="0" i="0" dirty="0">
                <a:effectLst/>
                <a:latin typeface="system-ui"/>
              </a:rPr>
              <a:t>A clear upward growth trend from August to November, this growth corresponds to Festive and Holiday seasons.</a:t>
            </a:r>
          </a:p>
          <a:p>
            <a:endParaRPr lang="en-US" b="0" i="0" dirty="0">
              <a:effectLst/>
              <a:latin typeface="system-ui"/>
            </a:endParaRPr>
          </a:p>
          <a:p>
            <a:pPr marL="285750" indent="-285750">
              <a:buFont typeface="Arial" panose="020B0604020202020204" pitchFamily="34" charset="0"/>
              <a:buChar char="•"/>
            </a:pPr>
            <a:r>
              <a:rPr lang="en-US" b="0" i="0" dirty="0">
                <a:effectLst/>
                <a:latin typeface="system-ui"/>
              </a:rPr>
              <a:t>November records the highest revenue, indicating peak seasonal demand.</a:t>
            </a:r>
          </a:p>
          <a:p>
            <a:endParaRPr lang="en-US" b="0" i="0" dirty="0">
              <a:effectLst/>
              <a:latin typeface="system-ui"/>
            </a:endParaRPr>
          </a:p>
          <a:p>
            <a:pPr marL="285750" indent="-285750">
              <a:buFont typeface="Arial" panose="020B0604020202020204" pitchFamily="34" charset="0"/>
              <a:buChar char="•"/>
            </a:pPr>
            <a:r>
              <a:rPr lang="en-US" b="0" i="0" dirty="0">
                <a:effectLst/>
                <a:latin typeface="system-ui"/>
              </a:rPr>
              <a:t>Sharp decline in the month of December immediately after a high peak in November shows that customer already spend heavy in the festive season.</a:t>
            </a:r>
          </a:p>
        </p:txBody>
      </p:sp>
      <p:sp>
        <p:nvSpPr>
          <p:cNvPr id="7" name="TextBox 6">
            <a:extLst>
              <a:ext uri="{FF2B5EF4-FFF2-40B4-BE49-F238E27FC236}">
                <a16:creationId xmlns:a16="http://schemas.microsoft.com/office/drawing/2014/main" id="{C0E3AEBE-2149-535D-895E-13A5F107A339}"/>
              </a:ext>
            </a:extLst>
          </p:cNvPr>
          <p:cNvSpPr txBox="1"/>
          <p:nvPr/>
        </p:nvSpPr>
        <p:spPr>
          <a:xfrm>
            <a:off x="800214" y="861491"/>
            <a:ext cx="5818950" cy="584775"/>
          </a:xfrm>
          <a:prstGeom prst="rect">
            <a:avLst/>
          </a:prstGeom>
          <a:solidFill>
            <a:schemeClr val="accent2">
              <a:lumMod val="40000"/>
              <a:lumOff val="60000"/>
            </a:schemeClr>
          </a:solidFill>
        </p:spPr>
        <p:txBody>
          <a:bodyPr wrap="square" rtlCol="0">
            <a:spAutoFit/>
          </a:bodyPr>
          <a:lstStyle/>
          <a:p>
            <a:pPr algn="ctr"/>
            <a:r>
              <a:rPr lang="en-IN" sz="3200" dirty="0">
                <a:solidFill>
                  <a:schemeClr val="accent1">
                    <a:lumMod val="50000"/>
                  </a:schemeClr>
                </a:solidFill>
                <a:latin typeface="Constantia" panose="02030602050306030303" pitchFamily="18" charset="0"/>
              </a:rPr>
              <a:t>Monthly Revenue Trend</a:t>
            </a:r>
            <a:endParaRPr lang="en-IN" dirty="0">
              <a:solidFill>
                <a:schemeClr val="accent1">
                  <a:lumMod val="50000"/>
                </a:schemeClr>
              </a:solidFill>
              <a:latin typeface="Constantia" panose="02030602050306030303" pitchFamily="18" charset="0"/>
            </a:endParaRPr>
          </a:p>
        </p:txBody>
      </p:sp>
    </p:spTree>
    <p:extLst>
      <p:ext uri="{BB962C8B-B14F-4D97-AF65-F5344CB8AC3E}">
        <p14:creationId xmlns:p14="http://schemas.microsoft.com/office/powerpoint/2010/main" val="3211152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657A1-5B5D-E09F-BB69-B4B8D8966495}"/>
              </a:ext>
            </a:extLst>
          </p:cNvPr>
          <p:cNvSpPr>
            <a:spLocks noGrp="1"/>
          </p:cNvSpPr>
          <p:nvPr>
            <p:ph type="title"/>
          </p:nvPr>
        </p:nvSpPr>
        <p:spPr>
          <a:xfrm>
            <a:off x="131928" y="18606"/>
            <a:ext cx="11928143" cy="863174"/>
          </a:xfrm>
          <a:solidFill>
            <a:schemeClr val="accent2">
              <a:lumMod val="40000"/>
              <a:lumOff val="60000"/>
            </a:schemeClr>
          </a:solidFill>
        </p:spPr>
        <p:txBody>
          <a:bodyPr>
            <a:normAutofit/>
          </a:bodyPr>
          <a:lstStyle/>
          <a:p>
            <a:r>
              <a:rPr lang="en-US" sz="3600" u="sng" dirty="0">
                <a:solidFill>
                  <a:schemeClr val="accent1">
                    <a:lumMod val="50000"/>
                  </a:schemeClr>
                </a:solidFill>
                <a:latin typeface="Constantia" panose="02030602050306030303" pitchFamily="18" charset="0"/>
              </a:rPr>
              <a:t>Top 10 product by quantity</a:t>
            </a:r>
            <a:endParaRPr lang="en-IN" sz="3600" dirty="0">
              <a:solidFill>
                <a:schemeClr val="accent1">
                  <a:lumMod val="50000"/>
                </a:schemeClr>
              </a:solidFill>
            </a:endParaRPr>
          </a:p>
        </p:txBody>
      </p:sp>
      <p:pic>
        <p:nvPicPr>
          <p:cNvPr id="4" name="Content Placeholder 3">
            <a:extLst>
              <a:ext uri="{FF2B5EF4-FFF2-40B4-BE49-F238E27FC236}">
                <a16:creationId xmlns:a16="http://schemas.microsoft.com/office/drawing/2014/main" id="{B83A66D0-5640-2B09-8E47-E6D56201A7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1928" y="1078173"/>
            <a:ext cx="11086532" cy="4246628"/>
          </a:xfrm>
          <a:prstGeom prst="rect">
            <a:avLst/>
          </a:prstGeom>
        </p:spPr>
      </p:pic>
      <p:sp>
        <p:nvSpPr>
          <p:cNvPr id="5" name="TextBox 4">
            <a:extLst>
              <a:ext uri="{FF2B5EF4-FFF2-40B4-BE49-F238E27FC236}">
                <a16:creationId xmlns:a16="http://schemas.microsoft.com/office/drawing/2014/main" id="{ABEA78B6-9136-D2C4-2CF2-B8AA36E29C07}"/>
              </a:ext>
            </a:extLst>
          </p:cNvPr>
          <p:cNvSpPr txBox="1"/>
          <p:nvPr/>
        </p:nvSpPr>
        <p:spPr>
          <a:xfrm>
            <a:off x="272954" y="5324801"/>
            <a:ext cx="11646090" cy="1292662"/>
          </a:xfrm>
          <a:prstGeom prst="rect">
            <a:avLst/>
          </a:prstGeom>
          <a:solidFill>
            <a:schemeClr val="accent6">
              <a:lumMod val="40000"/>
              <a:lumOff val="60000"/>
            </a:schemeClr>
          </a:solidFill>
        </p:spPr>
        <p:txBody>
          <a:bodyPr wrap="square" rtlCol="0">
            <a:spAutoFit/>
          </a:bodyPr>
          <a:lstStyle/>
          <a:p>
            <a:r>
              <a:rPr lang="en-US" sz="2400" b="1" u="sng" dirty="0">
                <a:solidFill>
                  <a:schemeClr val="accent3">
                    <a:lumMod val="50000"/>
                  </a:schemeClr>
                </a:solidFill>
              </a:rPr>
              <a:t>Insights:</a:t>
            </a:r>
          </a:p>
          <a:p>
            <a:pPr marL="285750" indent="-285750">
              <a:buFont typeface="Arial" panose="020B0604020202020204" pitchFamily="34" charset="0"/>
              <a:buChar char="•"/>
            </a:pPr>
            <a:r>
              <a:rPr lang="en-US" dirty="0">
                <a:solidFill>
                  <a:schemeClr val="tx1">
                    <a:lumMod val="85000"/>
                    <a:lumOff val="15000"/>
                  </a:schemeClr>
                </a:solidFill>
              </a:rPr>
              <a:t>JUMBO BAG RED RETROSPOT is the highest selling product, indicating very strong purchase demand.</a:t>
            </a:r>
          </a:p>
          <a:p>
            <a:pPr marL="285750" indent="-285750">
              <a:buFont typeface="Arial" panose="020B0604020202020204" pitchFamily="34" charset="0"/>
              <a:buChar char="•"/>
            </a:pPr>
            <a:r>
              <a:rPr lang="en-US" dirty="0">
                <a:solidFill>
                  <a:schemeClr val="tx1">
                    <a:lumMod val="85000"/>
                    <a:lumOff val="15000"/>
                  </a:schemeClr>
                </a:solidFill>
              </a:rPr>
              <a:t>It is followed by WHITE HANGING HEART T-LIGHT HOLDER and ASSORTED COLOUR BIRD ORNAMENT.</a:t>
            </a:r>
          </a:p>
          <a:p>
            <a:pPr marL="285750" indent="-285750">
              <a:buFont typeface="Arial" panose="020B0604020202020204" pitchFamily="34" charset="0"/>
              <a:buChar char="•"/>
            </a:pPr>
            <a:r>
              <a:rPr lang="en-US" dirty="0">
                <a:solidFill>
                  <a:schemeClr val="tx1">
                    <a:lumMod val="85000"/>
                    <a:lumOff val="15000"/>
                  </a:schemeClr>
                </a:solidFill>
              </a:rPr>
              <a:t>These top-selling products should be prioritized for inventory stocking.</a:t>
            </a:r>
          </a:p>
        </p:txBody>
      </p:sp>
    </p:spTree>
    <p:extLst>
      <p:ext uri="{BB962C8B-B14F-4D97-AF65-F5344CB8AC3E}">
        <p14:creationId xmlns:p14="http://schemas.microsoft.com/office/powerpoint/2010/main" val="275121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EBFC3-3F0B-217D-AA1D-05D823ED8E4E}"/>
              </a:ext>
            </a:extLst>
          </p:cNvPr>
          <p:cNvSpPr>
            <a:spLocks noGrp="1"/>
          </p:cNvSpPr>
          <p:nvPr>
            <p:ph type="title"/>
          </p:nvPr>
        </p:nvSpPr>
        <p:spPr>
          <a:xfrm>
            <a:off x="0" y="18256"/>
            <a:ext cx="12192000" cy="814258"/>
          </a:xfrm>
          <a:solidFill>
            <a:schemeClr val="accent6">
              <a:lumMod val="40000"/>
              <a:lumOff val="60000"/>
            </a:schemeClr>
          </a:solidFill>
        </p:spPr>
        <p:txBody>
          <a:bodyPr>
            <a:normAutofit/>
          </a:bodyPr>
          <a:lstStyle/>
          <a:p>
            <a:r>
              <a:rPr lang="en-US" sz="3600" u="sng" dirty="0">
                <a:solidFill>
                  <a:schemeClr val="accent1">
                    <a:lumMod val="50000"/>
                  </a:schemeClr>
                </a:solidFill>
                <a:latin typeface="Constantia" panose="02030602050306030303" pitchFamily="18" charset="0"/>
              </a:rPr>
              <a:t>Top 10 product by revenue</a:t>
            </a:r>
            <a:endParaRPr lang="en-IN" sz="3600" dirty="0">
              <a:solidFill>
                <a:schemeClr val="accent1">
                  <a:lumMod val="50000"/>
                </a:schemeClr>
              </a:solidFill>
            </a:endParaRPr>
          </a:p>
        </p:txBody>
      </p:sp>
      <p:pic>
        <p:nvPicPr>
          <p:cNvPr id="4" name="Content Placeholder 3">
            <a:extLst>
              <a:ext uri="{FF2B5EF4-FFF2-40B4-BE49-F238E27FC236}">
                <a16:creationId xmlns:a16="http://schemas.microsoft.com/office/drawing/2014/main" id="{1971D39B-35EB-54C5-0132-EC6C411BB9A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41696"/>
            <a:ext cx="12192000" cy="4375545"/>
          </a:xfrm>
          <a:prstGeom prst="rect">
            <a:avLst/>
          </a:prstGeom>
        </p:spPr>
      </p:pic>
      <p:sp>
        <p:nvSpPr>
          <p:cNvPr id="5" name="TextBox 4">
            <a:extLst>
              <a:ext uri="{FF2B5EF4-FFF2-40B4-BE49-F238E27FC236}">
                <a16:creationId xmlns:a16="http://schemas.microsoft.com/office/drawing/2014/main" id="{E56D8489-54A3-7BFC-91C7-259F6820829B}"/>
              </a:ext>
            </a:extLst>
          </p:cNvPr>
          <p:cNvSpPr txBox="1"/>
          <p:nvPr/>
        </p:nvSpPr>
        <p:spPr>
          <a:xfrm>
            <a:off x="0" y="5317241"/>
            <a:ext cx="12192000" cy="1569660"/>
          </a:xfrm>
          <a:prstGeom prst="rect">
            <a:avLst/>
          </a:prstGeom>
          <a:solidFill>
            <a:schemeClr val="accent6">
              <a:lumMod val="40000"/>
              <a:lumOff val="60000"/>
            </a:schemeClr>
          </a:solidFill>
        </p:spPr>
        <p:txBody>
          <a:bodyPr wrap="square" rtlCol="0">
            <a:spAutoFit/>
          </a:bodyPr>
          <a:lstStyle/>
          <a:p>
            <a:r>
              <a:rPr lang="en-US" sz="2400" b="1" u="sng" dirty="0">
                <a:solidFill>
                  <a:schemeClr val="accent3">
                    <a:lumMod val="50000"/>
                  </a:schemeClr>
                </a:solidFill>
              </a:rPr>
              <a:t>Insights:</a:t>
            </a:r>
            <a:endParaRPr lang="en-US" sz="1600" dirty="0">
              <a:solidFill>
                <a:schemeClr val="accent3">
                  <a:lumMod val="50000"/>
                </a:schemeClr>
              </a:solidFill>
            </a:endParaRPr>
          </a:p>
          <a:p>
            <a:pPr marL="285750" indent="-285750">
              <a:buFont typeface="Arial" panose="020B0604020202020204" pitchFamily="34" charset="0"/>
              <a:buChar char="•"/>
            </a:pPr>
            <a:r>
              <a:rPr lang="en-US" dirty="0">
                <a:latin typeface="system-ui"/>
              </a:rPr>
              <a:t>DOTCOM POSTAGE is the highest revenue generating item followed by REGENCY CAKESTAND 3 TIER and PARTY BUNTING.</a:t>
            </a:r>
          </a:p>
          <a:p>
            <a:pPr marL="285750" indent="-285750">
              <a:buFont typeface="Arial" panose="020B0604020202020204" pitchFamily="34" charset="0"/>
              <a:buChar char="•"/>
            </a:pPr>
            <a:r>
              <a:rPr lang="en-US" dirty="0">
                <a:latin typeface="system-ui"/>
              </a:rPr>
              <a:t>By comparing revenue and quantity, different products rank at the top. This indicates that despite lower sales volume, certain products contribute significantly to overall revenue due to higher unit prices</a:t>
            </a:r>
            <a:r>
              <a:rPr lang="en-US" dirty="0"/>
              <a:t>.</a:t>
            </a:r>
          </a:p>
          <a:p>
            <a:endParaRPr lang="en-IN" dirty="0"/>
          </a:p>
        </p:txBody>
      </p:sp>
    </p:spTree>
    <p:extLst>
      <p:ext uri="{BB962C8B-B14F-4D97-AF65-F5344CB8AC3E}">
        <p14:creationId xmlns:p14="http://schemas.microsoft.com/office/powerpoint/2010/main" val="611129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DCC33-CC7D-1ED5-8B69-E060105F0EAE}"/>
              </a:ext>
            </a:extLst>
          </p:cNvPr>
          <p:cNvSpPr>
            <a:spLocks noGrp="1"/>
          </p:cNvSpPr>
          <p:nvPr>
            <p:ph type="title"/>
          </p:nvPr>
        </p:nvSpPr>
        <p:spPr>
          <a:xfrm>
            <a:off x="0" y="104467"/>
            <a:ext cx="12192000" cy="753991"/>
          </a:xfrm>
          <a:solidFill>
            <a:schemeClr val="accent6">
              <a:lumMod val="40000"/>
              <a:lumOff val="60000"/>
            </a:schemeClr>
          </a:solidFill>
        </p:spPr>
        <p:txBody>
          <a:bodyPr>
            <a:normAutofit/>
          </a:bodyPr>
          <a:lstStyle/>
          <a:p>
            <a:r>
              <a:rPr lang="en-US" sz="3600" u="sng" dirty="0">
                <a:solidFill>
                  <a:schemeClr val="accent1">
                    <a:lumMod val="50000"/>
                  </a:schemeClr>
                </a:solidFill>
                <a:latin typeface="Constantia" panose="02030602050306030303" pitchFamily="18" charset="0"/>
              </a:rPr>
              <a:t>Quantity distribution</a:t>
            </a:r>
            <a:endParaRPr lang="en-IN" sz="3600" dirty="0">
              <a:solidFill>
                <a:schemeClr val="accent1">
                  <a:lumMod val="50000"/>
                </a:schemeClr>
              </a:solidFill>
            </a:endParaRPr>
          </a:p>
        </p:txBody>
      </p:sp>
      <p:pic>
        <p:nvPicPr>
          <p:cNvPr id="4" name="Content Placeholder 3">
            <a:extLst>
              <a:ext uri="{FF2B5EF4-FFF2-40B4-BE49-F238E27FC236}">
                <a16:creationId xmlns:a16="http://schemas.microsoft.com/office/drawing/2014/main" id="{12C15A6B-17B9-D0EC-7C94-221A025D088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534" y="955343"/>
            <a:ext cx="7165075" cy="5798189"/>
          </a:xfrm>
          <a:prstGeom prst="rect">
            <a:avLst/>
          </a:prstGeom>
          <a:solidFill>
            <a:schemeClr val="bg1">
              <a:lumMod val="85000"/>
            </a:schemeClr>
          </a:solidFill>
        </p:spPr>
      </p:pic>
      <p:sp>
        <p:nvSpPr>
          <p:cNvPr id="5" name="TextBox 4">
            <a:extLst>
              <a:ext uri="{FF2B5EF4-FFF2-40B4-BE49-F238E27FC236}">
                <a16:creationId xmlns:a16="http://schemas.microsoft.com/office/drawing/2014/main" id="{FE7375BA-391C-0737-DAA3-2AE1FE93DE58}"/>
              </a:ext>
            </a:extLst>
          </p:cNvPr>
          <p:cNvSpPr txBox="1"/>
          <p:nvPr/>
        </p:nvSpPr>
        <p:spPr>
          <a:xfrm>
            <a:off x="7697337" y="2374710"/>
            <a:ext cx="4221708" cy="3785652"/>
          </a:xfrm>
          <a:prstGeom prst="rect">
            <a:avLst/>
          </a:prstGeom>
          <a:solidFill>
            <a:schemeClr val="accent6">
              <a:lumMod val="40000"/>
              <a:lumOff val="60000"/>
            </a:schemeClr>
          </a:solidFill>
        </p:spPr>
        <p:txBody>
          <a:bodyPr wrap="square" rtlCol="0">
            <a:spAutoFit/>
          </a:bodyPr>
          <a:lstStyle/>
          <a:p>
            <a:r>
              <a:rPr lang="en-US" sz="2400" b="1" u="sng" dirty="0">
                <a:solidFill>
                  <a:schemeClr val="accent6">
                    <a:lumMod val="50000"/>
                  </a:schemeClr>
                </a:solidFill>
              </a:rPr>
              <a:t>Insights:</a:t>
            </a:r>
          </a:p>
          <a:p>
            <a:pPr marL="285750" indent="-285750">
              <a:buFont typeface="Arial" panose="020B0604020202020204" pitchFamily="34" charset="0"/>
              <a:buChar char="•"/>
            </a:pPr>
            <a:r>
              <a:rPr lang="en-US" dirty="0"/>
              <a:t>The distribution is Right Skewed, indicating that most transactions involve low quantity purchase.</a:t>
            </a:r>
          </a:p>
          <a:p>
            <a:endParaRPr lang="en-US" dirty="0"/>
          </a:p>
          <a:p>
            <a:pPr marL="285750" indent="-285750">
              <a:buFont typeface="Arial" panose="020B0604020202020204" pitchFamily="34" charset="0"/>
              <a:buChar char="•"/>
            </a:pPr>
            <a:r>
              <a:rPr lang="en-US" dirty="0"/>
              <a:t>Majority of orders fall in the 1-10 quantity range, showing customers usually buy items in small numbers.</a:t>
            </a:r>
          </a:p>
          <a:p>
            <a:endParaRPr lang="en-US" dirty="0"/>
          </a:p>
          <a:p>
            <a:pPr marL="285750" indent="-285750">
              <a:buFont typeface="Arial" panose="020B0604020202020204" pitchFamily="34" charset="0"/>
              <a:buChar char="•"/>
            </a:pPr>
            <a:r>
              <a:rPr lang="en-US" dirty="0"/>
              <a:t>High quantity orders are rare, but still present, indicating bulk or wholesale purchase by a small set of customers.</a:t>
            </a:r>
          </a:p>
          <a:p>
            <a:endParaRPr lang="en-IN" dirty="0"/>
          </a:p>
        </p:txBody>
      </p:sp>
    </p:spTree>
    <p:extLst>
      <p:ext uri="{BB962C8B-B14F-4D97-AF65-F5344CB8AC3E}">
        <p14:creationId xmlns:p14="http://schemas.microsoft.com/office/powerpoint/2010/main" val="2832696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25310-A504-2755-399B-389D15989235}"/>
              </a:ext>
            </a:extLst>
          </p:cNvPr>
          <p:cNvSpPr>
            <a:spLocks noGrp="1"/>
          </p:cNvSpPr>
          <p:nvPr>
            <p:ph type="title"/>
          </p:nvPr>
        </p:nvSpPr>
        <p:spPr>
          <a:xfrm>
            <a:off x="0" y="105819"/>
            <a:ext cx="12192000" cy="740344"/>
          </a:xfrm>
          <a:solidFill>
            <a:schemeClr val="accent6">
              <a:lumMod val="40000"/>
              <a:lumOff val="60000"/>
            </a:schemeClr>
          </a:solidFill>
        </p:spPr>
        <p:txBody>
          <a:bodyPr>
            <a:normAutofit/>
          </a:bodyPr>
          <a:lstStyle/>
          <a:p>
            <a:r>
              <a:rPr lang="en-US" sz="3600" dirty="0">
                <a:solidFill>
                  <a:schemeClr val="accent1">
                    <a:lumMod val="50000"/>
                  </a:schemeClr>
                </a:solidFill>
                <a:latin typeface="Constantia" panose="02030602050306030303" pitchFamily="18" charset="0"/>
              </a:rPr>
              <a:t>    </a:t>
            </a:r>
            <a:r>
              <a:rPr lang="en-US" sz="3600" u="sng" dirty="0">
                <a:solidFill>
                  <a:schemeClr val="accent1">
                    <a:lumMod val="50000"/>
                  </a:schemeClr>
                </a:solidFill>
                <a:latin typeface="Constantia" panose="02030602050306030303" pitchFamily="18" charset="0"/>
              </a:rPr>
              <a:t>Country-wise Sales</a:t>
            </a:r>
            <a:endParaRPr lang="en-IN" sz="3600" dirty="0">
              <a:solidFill>
                <a:schemeClr val="accent1">
                  <a:lumMod val="50000"/>
                </a:schemeClr>
              </a:solidFill>
            </a:endParaRPr>
          </a:p>
        </p:txBody>
      </p:sp>
      <p:pic>
        <p:nvPicPr>
          <p:cNvPr id="4" name="Content Placeholder 3">
            <a:extLst>
              <a:ext uri="{FF2B5EF4-FFF2-40B4-BE49-F238E27FC236}">
                <a16:creationId xmlns:a16="http://schemas.microsoft.com/office/drawing/2014/main" id="{F72D5EEC-DA56-0F00-0F9A-E16D0F204F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052180"/>
            <a:ext cx="8652681" cy="5700001"/>
          </a:xfrm>
          <a:prstGeom prst="rect">
            <a:avLst/>
          </a:prstGeom>
        </p:spPr>
      </p:pic>
      <p:sp>
        <p:nvSpPr>
          <p:cNvPr id="5" name="TextBox 4">
            <a:extLst>
              <a:ext uri="{FF2B5EF4-FFF2-40B4-BE49-F238E27FC236}">
                <a16:creationId xmlns:a16="http://schemas.microsoft.com/office/drawing/2014/main" id="{5BE9E2F4-1184-8523-F68B-79C9D96FC8A4}"/>
              </a:ext>
            </a:extLst>
          </p:cNvPr>
          <p:cNvSpPr txBox="1"/>
          <p:nvPr/>
        </p:nvSpPr>
        <p:spPr>
          <a:xfrm>
            <a:off x="7806520" y="3429000"/>
            <a:ext cx="3930555" cy="2677656"/>
          </a:xfrm>
          <a:prstGeom prst="rect">
            <a:avLst/>
          </a:prstGeom>
          <a:solidFill>
            <a:schemeClr val="accent6">
              <a:lumMod val="40000"/>
              <a:lumOff val="60000"/>
            </a:schemeClr>
          </a:solidFill>
        </p:spPr>
        <p:txBody>
          <a:bodyPr wrap="square" rtlCol="0">
            <a:spAutoFit/>
          </a:bodyPr>
          <a:lstStyle/>
          <a:p>
            <a:r>
              <a:rPr lang="en-US" sz="2400" b="1" u="sng" dirty="0">
                <a:solidFill>
                  <a:schemeClr val="accent3">
                    <a:lumMod val="50000"/>
                  </a:schemeClr>
                </a:solidFill>
              </a:rPr>
              <a:t>Insights:</a:t>
            </a:r>
          </a:p>
          <a:p>
            <a:pPr>
              <a:buFont typeface="Arial" panose="020B0604020202020204" pitchFamily="34" charset="0"/>
              <a:buChar char="•"/>
            </a:pPr>
            <a:r>
              <a:rPr lang="en-US" b="0" i="0" dirty="0">
                <a:effectLst/>
                <a:latin typeface="system-ui"/>
              </a:rPr>
              <a:t>The transactions are highly UK centric, indicating business operations are primarily focused on UK market.</a:t>
            </a:r>
          </a:p>
          <a:p>
            <a:pPr>
              <a:buFont typeface="Arial" panose="020B0604020202020204" pitchFamily="34" charset="0"/>
              <a:buChar char="•"/>
            </a:pPr>
            <a:endParaRPr lang="en-US" b="0" i="0" dirty="0">
              <a:effectLst/>
              <a:latin typeface="system-ui"/>
            </a:endParaRPr>
          </a:p>
          <a:p>
            <a:pPr>
              <a:buFont typeface="Arial" panose="020B0604020202020204" pitchFamily="34" charset="0"/>
              <a:buChar char="•"/>
            </a:pPr>
            <a:r>
              <a:rPr lang="en-US" b="0" i="0" dirty="0">
                <a:effectLst/>
                <a:latin typeface="system-ui"/>
              </a:rPr>
              <a:t>There is also a risk factor that the whole business depends on a single country market.</a:t>
            </a:r>
          </a:p>
          <a:p>
            <a:endParaRPr lang="en-IN" dirty="0"/>
          </a:p>
        </p:txBody>
      </p:sp>
    </p:spTree>
    <p:extLst>
      <p:ext uri="{BB962C8B-B14F-4D97-AF65-F5344CB8AC3E}">
        <p14:creationId xmlns:p14="http://schemas.microsoft.com/office/powerpoint/2010/main" val="3739548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D6614-3B07-2393-8D55-7EB65260174E}"/>
              </a:ext>
            </a:extLst>
          </p:cNvPr>
          <p:cNvSpPr>
            <a:spLocks noGrp="1"/>
          </p:cNvSpPr>
          <p:nvPr>
            <p:ph type="title"/>
          </p:nvPr>
        </p:nvSpPr>
        <p:spPr>
          <a:xfrm>
            <a:off x="0" y="109182"/>
            <a:ext cx="12192000" cy="890469"/>
          </a:xfrm>
          <a:solidFill>
            <a:schemeClr val="accent6">
              <a:lumMod val="40000"/>
              <a:lumOff val="60000"/>
            </a:schemeClr>
          </a:solidFill>
        </p:spPr>
        <p:txBody>
          <a:bodyPr>
            <a:normAutofit/>
          </a:bodyPr>
          <a:lstStyle/>
          <a:p>
            <a:r>
              <a:rPr lang="en-IN" sz="3600" dirty="0">
                <a:solidFill>
                  <a:schemeClr val="accent1">
                    <a:lumMod val="50000"/>
                  </a:schemeClr>
                </a:solidFill>
                <a:latin typeface="Constantia" panose="02030602050306030303" pitchFamily="18" charset="0"/>
              </a:rPr>
              <a:t>    </a:t>
            </a:r>
            <a:r>
              <a:rPr lang="en-IN" sz="3600" u="sng" dirty="0">
                <a:solidFill>
                  <a:schemeClr val="accent1">
                    <a:lumMod val="50000"/>
                  </a:schemeClr>
                </a:solidFill>
                <a:latin typeface="Constantia" panose="02030602050306030303" pitchFamily="18" charset="0"/>
              </a:rPr>
              <a:t>Quantity vs Unit Price Distribution</a:t>
            </a:r>
            <a:endParaRPr lang="en-IN" sz="3600" dirty="0">
              <a:solidFill>
                <a:schemeClr val="accent1">
                  <a:lumMod val="50000"/>
                </a:schemeClr>
              </a:solidFill>
            </a:endParaRPr>
          </a:p>
        </p:txBody>
      </p:sp>
      <p:pic>
        <p:nvPicPr>
          <p:cNvPr id="4" name="Content Placeholder 3">
            <a:extLst>
              <a:ext uri="{FF2B5EF4-FFF2-40B4-BE49-F238E27FC236}">
                <a16:creationId xmlns:a16="http://schemas.microsoft.com/office/drawing/2014/main" id="{67D5D82A-FF19-9F7C-08A4-77EE972F53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003015"/>
            <a:ext cx="7588155" cy="5854985"/>
          </a:xfrm>
          <a:prstGeom prst="rect">
            <a:avLst/>
          </a:prstGeom>
        </p:spPr>
      </p:pic>
      <p:sp>
        <p:nvSpPr>
          <p:cNvPr id="5" name="TextBox 4">
            <a:extLst>
              <a:ext uri="{FF2B5EF4-FFF2-40B4-BE49-F238E27FC236}">
                <a16:creationId xmlns:a16="http://schemas.microsoft.com/office/drawing/2014/main" id="{74F15860-770B-4717-30FA-4E7AFE3ACFB1}"/>
              </a:ext>
            </a:extLst>
          </p:cNvPr>
          <p:cNvSpPr txBox="1"/>
          <p:nvPr/>
        </p:nvSpPr>
        <p:spPr>
          <a:xfrm>
            <a:off x="7697337" y="2797790"/>
            <a:ext cx="4385481" cy="3231654"/>
          </a:xfrm>
          <a:prstGeom prst="rect">
            <a:avLst/>
          </a:prstGeom>
          <a:solidFill>
            <a:schemeClr val="accent6">
              <a:lumMod val="40000"/>
              <a:lumOff val="60000"/>
            </a:schemeClr>
          </a:solidFill>
        </p:spPr>
        <p:txBody>
          <a:bodyPr wrap="square" rtlCol="0">
            <a:spAutoFit/>
          </a:bodyPr>
          <a:lstStyle/>
          <a:p>
            <a:r>
              <a:rPr lang="en-US" sz="2400" b="1" u="sng" dirty="0">
                <a:solidFill>
                  <a:schemeClr val="accent3">
                    <a:lumMod val="50000"/>
                  </a:schemeClr>
                </a:solidFill>
              </a:rPr>
              <a:t>Insights:</a:t>
            </a:r>
          </a:p>
          <a:p>
            <a:pPr>
              <a:buFont typeface="Arial" panose="020B0604020202020204" pitchFamily="34" charset="0"/>
              <a:buChar char="•"/>
            </a:pPr>
            <a:r>
              <a:rPr lang="en-US" b="0" i="0" dirty="0">
                <a:effectLst/>
                <a:latin typeface="system-ui"/>
              </a:rPr>
              <a:t>Relationship between Quantity and Price shows inverse trend, as Price increases Quantity decreases.</a:t>
            </a:r>
          </a:p>
          <a:p>
            <a:endParaRPr lang="en-US" b="0" i="0" dirty="0">
              <a:effectLst/>
              <a:latin typeface="system-ui"/>
            </a:endParaRPr>
          </a:p>
          <a:p>
            <a:pPr>
              <a:buFont typeface="Arial" panose="020B0604020202020204" pitchFamily="34" charset="0"/>
              <a:buChar char="•"/>
            </a:pPr>
            <a:r>
              <a:rPr lang="en-US" b="0" i="0" dirty="0">
                <a:effectLst/>
                <a:latin typeface="system-ui"/>
              </a:rPr>
              <a:t>Customers usually buy less quantity of item of higher price.</a:t>
            </a:r>
          </a:p>
          <a:p>
            <a:endParaRPr lang="en-US" b="0" i="0" dirty="0">
              <a:effectLst/>
              <a:latin typeface="system-ui"/>
            </a:endParaRPr>
          </a:p>
          <a:p>
            <a:pPr>
              <a:buFont typeface="Arial" panose="020B0604020202020204" pitchFamily="34" charset="0"/>
              <a:buChar char="•"/>
            </a:pPr>
            <a:r>
              <a:rPr lang="en-US" b="0" i="0" dirty="0">
                <a:effectLst/>
                <a:latin typeface="system-ui"/>
              </a:rPr>
              <a:t>When the price falls in the low-to-medium range, customers tend to purchase higher quantities.</a:t>
            </a:r>
          </a:p>
        </p:txBody>
      </p:sp>
    </p:spTree>
    <p:extLst>
      <p:ext uri="{BB962C8B-B14F-4D97-AF65-F5344CB8AC3E}">
        <p14:creationId xmlns:p14="http://schemas.microsoft.com/office/powerpoint/2010/main" val="690284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32818-2162-C9B6-67DA-55139BBB4823}"/>
              </a:ext>
            </a:extLst>
          </p:cNvPr>
          <p:cNvSpPr>
            <a:spLocks noGrp="1"/>
          </p:cNvSpPr>
          <p:nvPr>
            <p:ph type="title"/>
          </p:nvPr>
        </p:nvSpPr>
        <p:spPr>
          <a:xfrm>
            <a:off x="0" y="155266"/>
            <a:ext cx="12192000" cy="963850"/>
          </a:xfrm>
          <a:solidFill>
            <a:schemeClr val="accent6">
              <a:lumMod val="40000"/>
              <a:lumOff val="60000"/>
            </a:schemeClr>
          </a:solidFill>
        </p:spPr>
        <p:txBody>
          <a:bodyPr/>
          <a:lstStyle/>
          <a:p>
            <a:r>
              <a:rPr lang="en-US" b="1" u="sng" dirty="0">
                <a:solidFill>
                  <a:schemeClr val="accent4">
                    <a:lumMod val="50000"/>
                  </a:schemeClr>
                </a:solidFill>
              </a:rPr>
              <a:t>EDA Summary / Key findings </a:t>
            </a:r>
            <a:endParaRPr lang="en-IN" b="1" u="sng" dirty="0"/>
          </a:p>
        </p:txBody>
      </p:sp>
      <p:sp>
        <p:nvSpPr>
          <p:cNvPr id="3" name="Content Placeholder 2">
            <a:extLst>
              <a:ext uri="{FF2B5EF4-FFF2-40B4-BE49-F238E27FC236}">
                <a16:creationId xmlns:a16="http://schemas.microsoft.com/office/drawing/2014/main" id="{D3E39735-ACA9-FB55-3492-9758124B0813}"/>
              </a:ext>
            </a:extLst>
          </p:cNvPr>
          <p:cNvSpPr>
            <a:spLocks noGrp="1"/>
          </p:cNvSpPr>
          <p:nvPr>
            <p:ph idx="1"/>
          </p:nvPr>
        </p:nvSpPr>
        <p:spPr>
          <a:xfrm>
            <a:off x="-1" y="1719618"/>
            <a:ext cx="12191999" cy="4612944"/>
          </a:xfrm>
        </p:spPr>
        <p:txBody>
          <a:bodyPr>
            <a:normAutofit/>
          </a:bodyPr>
          <a:lstStyle/>
          <a:p>
            <a:r>
              <a:rPr lang="en-US" altLang="en-US" sz="2800" dirty="0"/>
              <a:t>Sales and transactions are highly concentrated in the UK </a:t>
            </a:r>
          </a:p>
          <a:p>
            <a:pPr marL="0" indent="0">
              <a:buNone/>
            </a:pPr>
            <a:r>
              <a:rPr lang="en-US" altLang="en-US" sz="2800" dirty="0"/>
              <a:t>   market.</a:t>
            </a:r>
          </a:p>
          <a:p>
            <a:endParaRPr lang="en-US" altLang="en-US" sz="2800" dirty="0"/>
          </a:p>
          <a:p>
            <a:r>
              <a:rPr lang="en-US" altLang="en-US" sz="2800" dirty="0"/>
              <a:t>Majority of customers purchase items in small quantities.</a:t>
            </a:r>
          </a:p>
          <a:p>
            <a:endParaRPr lang="en-US" altLang="en-US" sz="2800" dirty="0"/>
          </a:p>
          <a:p>
            <a:r>
              <a:rPr lang="en-US" altLang="en-US" sz="2800" dirty="0"/>
              <a:t>Few products contribute significantly to overall revenue.</a:t>
            </a:r>
          </a:p>
          <a:p>
            <a:endParaRPr lang="en-US" altLang="en-US" sz="2800" dirty="0"/>
          </a:p>
          <a:p>
            <a:r>
              <a:rPr lang="en-US" altLang="en-US" sz="2800" dirty="0"/>
              <a:t>Presence of outliers due to bulk purchases.</a:t>
            </a:r>
          </a:p>
          <a:p>
            <a:pPr marL="0" indent="0">
              <a:buNone/>
            </a:pPr>
            <a:endParaRPr lang="en-IN" dirty="0"/>
          </a:p>
        </p:txBody>
      </p:sp>
    </p:spTree>
    <p:extLst>
      <p:ext uri="{BB962C8B-B14F-4D97-AF65-F5344CB8AC3E}">
        <p14:creationId xmlns:p14="http://schemas.microsoft.com/office/powerpoint/2010/main" val="2155765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87A56-39A8-A93D-7FB5-4274F5B381CB}"/>
              </a:ext>
            </a:extLst>
          </p:cNvPr>
          <p:cNvSpPr>
            <a:spLocks noGrp="1"/>
          </p:cNvSpPr>
          <p:nvPr>
            <p:ph type="title"/>
          </p:nvPr>
        </p:nvSpPr>
        <p:spPr>
          <a:xfrm>
            <a:off x="0" y="176211"/>
            <a:ext cx="12192000" cy="1009651"/>
          </a:xfrm>
          <a:solidFill>
            <a:schemeClr val="accent6">
              <a:lumMod val="40000"/>
              <a:lumOff val="60000"/>
            </a:schemeClr>
          </a:solidFill>
        </p:spPr>
        <p:txBody>
          <a:bodyPr/>
          <a:lstStyle/>
          <a:p>
            <a:r>
              <a:rPr lang="en-IN" b="1" dirty="0">
                <a:solidFill>
                  <a:schemeClr val="accent6">
                    <a:lumMod val="50000"/>
                  </a:schemeClr>
                </a:solidFill>
              </a:rPr>
              <a:t>  </a:t>
            </a:r>
            <a:r>
              <a:rPr lang="en-IN" b="1" u="sng" dirty="0">
                <a:solidFill>
                  <a:schemeClr val="accent6">
                    <a:lumMod val="50000"/>
                  </a:schemeClr>
                </a:solidFill>
              </a:rPr>
              <a:t>Market Basket Analysis (</a:t>
            </a:r>
            <a:r>
              <a:rPr lang="en-IN" b="1" u="sng" dirty="0" err="1">
                <a:solidFill>
                  <a:schemeClr val="accent6">
                    <a:lumMod val="50000"/>
                  </a:schemeClr>
                </a:solidFill>
              </a:rPr>
              <a:t>Apriori</a:t>
            </a:r>
            <a:r>
              <a:rPr lang="en-IN" b="1" u="sng" dirty="0">
                <a:solidFill>
                  <a:schemeClr val="accent6">
                    <a:lumMod val="50000"/>
                  </a:schemeClr>
                </a:solidFill>
              </a:rPr>
              <a:t> Implementation)</a:t>
            </a:r>
          </a:p>
        </p:txBody>
      </p:sp>
      <p:sp>
        <p:nvSpPr>
          <p:cNvPr id="3" name="Content Placeholder 2">
            <a:extLst>
              <a:ext uri="{FF2B5EF4-FFF2-40B4-BE49-F238E27FC236}">
                <a16:creationId xmlns:a16="http://schemas.microsoft.com/office/drawing/2014/main" id="{64C7166A-8D6B-FD2B-F7FE-F31398FAB6A5}"/>
              </a:ext>
            </a:extLst>
          </p:cNvPr>
          <p:cNvSpPr>
            <a:spLocks noGrp="1"/>
          </p:cNvSpPr>
          <p:nvPr>
            <p:ph idx="1"/>
          </p:nvPr>
        </p:nvSpPr>
        <p:spPr>
          <a:xfrm>
            <a:off x="218364" y="1555845"/>
            <a:ext cx="11135436" cy="5125944"/>
          </a:xfrm>
        </p:spPr>
        <p:txBody>
          <a:bodyPr>
            <a:normAutofit lnSpcReduction="10000"/>
          </a:bodyPr>
          <a:lstStyle/>
          <a:p>
            <a:r>
              <a:rPr lang="en-IN" sz="3200" dirty="0">
                <a:solidFill>
                  <a:schemeClr val="accent1">
                    <a:lumMod val="50000"/>
                  </a:schemeClr>
                </a:solidFill>
              </a:rPr>
              <a:t>Algorithm Used  :  </a:t>
            </a:r>
            <a:r>
              <a:rPr lang="en-IN" sz="2400" dirty="0" err="1"/>
              <a:t>Apriori</a:t>
            </a:r>
            <a:r>
              <a:rPr lang="en-IN" sz="2400" dirty="0"/>
              <a:t> Algorithm</a:t>
            </a:r>
          </a:p>
          <a:p>
            <a:endParaRPr lang="en-IN" dirty="0"/>
          </a:p>
          <a:p>
            <a:r>
              <a:rPr lang="en-IN" sz="3200" dirty="0">
                <a:solidFill>
                  <a:schemeClr val="accent1">
                    <a:lumMod val="50000"/>
                  </a:schemeClr>
                </a:solidFill>
              </a:rPr>
              <a:t>Technical Parameters :</a:t>
            </a:r>
          </a:p>
          <a:p>
            <a:pPr lvl="1"/>
            <a:r>
              <a:rPr lang="en-IN" sz="2000" dirty="0" err="1"/>
              <a:t>min_support</a:t>
            </a:r>
            <a:r>
              <a:rPr lang="en-IN" sz="2000" dirty="0"/>
              <a:t> = 0.004</a:t>
            </a:r>
          </a:p>
          <a:p>
            <a:pPr lvl="1"/>
            <a:r>
              <a:rPr lang="en-IN" sz="2000" dirty="0"/>
              <a:t>confidence ≥ 0.6</a:t>
            </a:r>
          </a:p>
          <a:p>
            <a:pPr lvl="1"/>
            <a:r>
              <a:rPr lang="en-IN" sz="2000" dirty="0"/>
              <a:t>lift ≥ 1.9</a:t>
            </a:r>
          </a:p>
          <a:p>
            <a:pPr lvl="1"/>
            <a:r>
              <a:rPr lang="en-IN" sz="2000" dirty="0"/>
              <a:t>Top 500 products considered</a:t>
            </a:r>
          </a:p>
          <a:p>
            <a:pPr lvl="1"/>
            <a:endParaRPr lang="en-IN" dirty="0"/>
          </a:p>
          <a:p>
            <a:r>
              <a:rPr lang="en-IN" sz="3200" dirty="0">
                <a:solidFill>
                  <a:schemeClr val="accent1">
                    <a:lumMod val="50000"/>
                  </a:schemeClr>
                </a:solidFill>
              </a:rPr>
              <a:t>Results :</a:t>
            </a:r>
          </a:p>
          <a:p>
            <a:pPr lvl="1"/>
            <a:r>
              <a:rPr lang="en-US" sz="2000" dirty="0"/>
              <a:t>28 strong association rules identified</a:t>
            </a:r>
          </a:p>
          <a:p>
            <a:pPr lvl="1"/>
            <a:r>
              <a:rPr lang="en-US" sz="2000" dirty="0"/>
              <a:t>High lift values indicate strong cross-selling potential</a:t>
            </a:r>
            <a:endParaRPr lang="en-IN" sz="2000" dirty="0">
              <a:solidFill>
                <a:schemeClr val="accent1">
                  <a:lumMod val="50000"/>
                </a:schemeClr>
              </a:solidFill>
            </a:endParaRPr>
          </a:p>
        </p:txBody>
      </p:sp>
    </p:spTree>
    <p:extLst>
      <p:ext uri="{BB962C8B-B14F-4D97-AF65-F5344CB8AC3E}">
        <p14:creationId xmlns:p14="http://schemas.microsoft.com/office/powerpoint/2010/main" val="1919392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17A9A-97D9-9086-D2F2-A2A252B386D1}"/>
              </a:ext>
            </a:extLst>
          </p:cNvPr>
          <p:cNvSpPr>
            <a:spLocks noGrp="1"/>
          </p:cNvSpPr>
          <p:nvPr>
            <p:ph type="title"/>
          </p:nvPr>
        </p:nvSpPr>
        <p:spPr>
          <a:xfrm>
            <a:off x="0" y="32494"/>
            <a:ext cx="12192000" cy="769364"/>
          </a:xfrm>
          <a:solidFill>
            <a:schemeClr val="accent6">
              <a:lumMod val="40000"/>
              <a:lumOff val="60000"/>
            </a:schemeClr>
          </a:solidFill>
        </p:spPr>
        <p:txBody>
          <a:bodyPr/>
          <a:lstStyle/>
          <a:p>
            <a:r>
              <a:rPr lang="en-IN" b="1" dirty="0">
                <a:solidFill>
                  <a:schemeClr val="accent6">
                    <a:lumMod val="50000"/>
                  </a:schemeClr>
                </a:solidFill>
              </a:rPr>
              <a:t>    </a:t>
            </a:r>
            <a:r>
              <a:rPr lang="en-IN" b="1" u="sng" dirty="0">
                <a:solidFill>
                  <a:schemeClr val="accent6">
                    <a:lumMod val="50000"/>
                  </a:schemeClr>
                </a:solidFill>
              </a:rPr>
              <a:t>Frequent Itemset Identified</a:t>
            </a:r>
            <a:endParaRPr lang="en-IN" dirty="0">
              <a:solidFill>
                <a:schemeClr val="accent6">
                  <a:lumMod val="50000"/>
                </a:schemeClr>
              </a:solidFill>
            </a:endParaRPr>
          </a:p>
        </p:txBody>
      </p:sp>
      <p:sp>
        <p:nvSpPr>
          <p:cNvPr id="3" name="Content Placeholder 2">
            <a:extLst>
              <a:ext uri="{FF2B5EF4-FFF2-40B4-BE49-F238E27FC236}">
                <a16:creationId xmlns:a16="http://schemas.microsoft.com/office/drawing/2014/main" id="{2F48FCFB-7230-7DCE-2D81-78F423A0F7E4}"/>
              </a:ext>
            </a:extLst>
          </p:cNvPr>
          <p:cNvSpPr>
            <a:spLocks noGrp="1"/>
          </p:cNvSpPr>
          <p:nvPr>
            <p:ph idx="1"/>
          </p:nvPr>
        </p:nvSpPr>
        <p:spPr>
          <a:xfrm>
            <a:off x="400369" y="818190"/>
            <a:ext cx="11012606" cy="5221620"/>
          </a:xfrm>
        </p:spPr>
        <p:txBody>
          <a:bodyPr/>
          <a:lstStyle/>
          <a:p>
            <a:r>
              <a:rPr lang="en-US" sz="2400" u="sng" dirty="0">
                <a:solidFill>
                  <a:schemeClr val="accent6">
                    <a:lumMod val="50000"/>
                  </a:schemeClr>
                </a:solidFill>
              </a:rPr>
              <a:t>Table of Top Frequent Itemset:</a:t>
            </a:r>
            <a:endParaRPr lang="en-IN" sz="2400" u="sng" dirty="0">
              <a:solidFill>
                <a:schemeClr val="accent6">
                  <a:lumMod val="50000"/>
                </a:schemeClr>
              </a:solidFill>
            </a:endParaRPr>
          </a:p>
          <a:p>
            <a:pPr marL="0" indent="0">
              <a:buNone/>
            </a:pPr>
            <a:endParaRPr lang="en-IN" dirty="0"/>
          </a:p>
        </p:txBody>
      </p:sp>
      <p:pic>
        <p:nvPicPr>
          <p:cNvPr id="4" name="Picture 3">
            <a:extLst>
              <a:ext uri="{FF2B5EF4-FFF2-40B4-BE49-F238E27FC236}">
                <a16:creationId xmlns:a16="http://schemas.microsoft.com/office/drawing/2014/main" id="{65A55C15-16A5-DE52-7FC7-217EC97B23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369" y="1508684"/>
            <a:ext cx="11582365" cy="3591061"/>
          </a:xfrm>
          <a:prstGeom prst="rect">
            <a:avLst/>
          </a:prstGeom>
          <a:pattFill prst="pct5">
            <a:fgClr>
              <a:schemeClr val="accent1"/>
            </a:fgClr>
            <a:bgClr>
              <a:schemeClr val="bg1"/>
            </a:bgClr>
          </a:pattFill>
        </p:spPr>
      </p:pic>
      <p:sp>
        <p:nvSpPr>
          <p:cNvPr id="5" name="TextBox 4">
            <a:extLst>
              <a:ext uri="{FF2B5EF4-FFF2-40B4-BE49-F238E27FC236}">
                <a16:creationId xmlns:a16="http://schemas.microsoft.com/office/drawing/2014/main" id="{D5093449-6B78-F10D-0FE5-F04D9C78D340}"/>
              </a:ext>
            </a:extLst>
          </p:cNvPr>
          <p:cNvSpPr txBox="1"/>
          <p:nvPr/>
        </p:nvSpPr>
        <p:spPr>
          <a:xfrm>
            <a:off x="0" y="5099745"/>
            <a:ext cx="11982734" cy="1692771"/>
          </a:xfrm>
          <a:prstGeom prst="rect">
            <a:avLst/>
          </a:prstGeom>
          <a:solidFill>
            <a:schemeClr val="accent6">
              <a:lumMod val="40000"/>
              <a:lumOff val="60000"/>
            </a:schemeClr>
          </a:solidFill>
        </p:spPr>
        <p:txBody>
          <a:bodyPr wrap="square" rtlCol="0">
            <a:spAutoFit/>
          </a:bodyPr>
          <a:lstStyle/>
          <a:p>
            <a:r>
              <a:rPr lang="en-US" sz="2400" b="1" dirty="0">
                <a:solidFill>
                  <a:schemeClr val="accent2">
                    <a:lumMod val="50000"/>
                  </a:schemeClr>
                </a:solidFill>
              </a:rPr>
              <a:t>Insights:</a:t>
            </a:r>
          </a:p>
          <a:p>
            <a:pPr marL="285750" indent="-285750">
              <a:buFont typeface="Arial" panose="020B0604020202020204" pitchFamily="34" charset="0"/>
              <a:buChar char="•"/>
            </a:pPr>
            <a:r>
              <a:rPr lang="en-US" sz="2000" dirty="0"/>
              <a:t>Customers often buy matching or same-theme products together, showing strong category-level associations.</a:t>
            </a:r>
          </a:p>
          <a:p>
            <a:pPr marL="285750" indent="-285750">
              <a:buFont typeface="Arial" panose="020B0604020202020204" pitchFamily="34" charset="0"/>
              <a:buChar char="•"/>
            </a:pPr>
            <a:r>
              <a:rPr lang="en-US" sz="2000" dirty="0"/>
              <a:t>High lift values (&gt;10) indicate strong cross-selling opportunities, especially in decorative and gifting items.</a:t>
            </a:r>
            <a:endParaRPr lang="en-IN" sz="2000" dirty="0"/>
          </a:p>
        </p:txBody>
      </p:sp>
    </p:spTree>
    <p:extLst>
      <p:ext uri="{BB962C8B-B14F-4D97-AF65-F5344CB8AC3E}">
        <p14:creationId xmlns:p14="http://schemas.microsoft.com/office/powerpoint/2010/main" val="1495196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91773-2DC6-1E41-6E5D-151968FC3872}"/>
              </a:ext>
            </a:extLst>
          </p:cNvPr>
          <p:cNvSpPr>
            <a:spLocks noGrp="1"/>
          </p:cNvSpPr>
          <p:nvPr>
            <p:ph type="title"/>
          </p:nvPr>
        </p:nvSpPr>
        <p:spPr>
          <a:xfrm>
            <a:off x="-1" y="0"/>
            <a:ext cx="12192000" cy="787791"/>
          </a:xfrm>
          <a:solidFill>
            <a:schemeClr val="accent6">
              <a:lumMod val="40000"/>
              <a:lumOff val="60000"/>
            </a:schemeClr>
          </a:solidFill>
        </p:spPr>
        <p:txBody>
          <a:bodyPr/>
          <a:lstStyle/>
          <a:p>
            <a:r>
              <a:rPr lang="en-IN" b="1" dirty="0">
                <a:solidFill>
                  <a:schemeClr val="accent6">
                    <a:lumMod val="50000"/>
                  </a:schemeClr>
                </a:solidFill>
              </a:rPr>
              <a:t>    </a:t>
            </a:r>
            <a:r>
              <a:rPr lang="en-IN" b="1" u="sng" dirty="0">
                <a:solidFill>
                  <a:schemeClr val="accent6">
                    <a:lumMod val="50000"/>
                  </a:schemeClr>
                </a:solidFill>
              </a:rPr>
              <a:t>Lift Visualization</a:t>
            </a:r>
            <a:endParaRPr lang="en-IN" dirty="0">
              <a:solidFill>
                <a:schemeClr val="accent6">
                  <a:lumMod val="50000"/>
                </a:schemeClr>
              </a:solidFill>
            </a:endParaRPr>
          </a:p>
        </p:txBody>
      </p:sp>
      <p:sp>
        <p:nvSpPr>
          <p:cNvPr id="3" name="Content Placeholder 2">
            <a:extLst>
              <a:ext uri="{FF2B5EF4-FFF2-40B4-BE49-F238E27FC236}">
                <a16:creationId xmlns:a16="http://schemas.microsoft.com/office/drawing/2014/main" id="{B7933F0A-B019-5C8B-801E-FD1425D62CA5}"/>
              </a:ext>
            </a:extLst>
          </p:cNvPr>
          <p:cNvSpPr>
            <a:spLocks noGrp="1"/>
          </p:cNvSpPr>
          <p:nvPr>
            <p:ph idx="1"/>
          </p:nvPr>
        </p:nvSpPr>
        <p:spPr>
          <a:xfrm>
            <a:off x="0" y="866793"/>
            <a:ext cx="12191999" cy="4333163"/>
          </a:xfrm>
        </p:spPr>
        <p:txBody>
          <a:bodyPr/>
          <a:lstStyle/>
          <a:p>
            <a:r>
              <a:rPr lang="en-US" sz="2400" dirty="0">
                <a:solidFill>
                  <a:schemeClr val="tx1">
                    <a:lumMod val="95000"/>
                    <a:lumOff val="5000"/>
                  </a:schemeClr>
                </a:solidFill>
              </a:rPr>
              <a:t>Horizontal Bar Chart of Top 10 Rules by Lift</a:t>
            </a:r>
          </a:p>
          <a:p>
            <a:pPr marL="0" indent="0">
              <a:buNone/>
            </a:pPr>
            <a:endParaRPr lang="en-IN" dirty="0">
              <a:solidFill>
                <a:schemeClr val="tx1">
                  <a:lumMod val="95000"/>
                  <a:lumOff val="5000"/>
                </a:schemeClr>
              </a:solidFill>
            </a:endParaRPr>
          </a:p>
          <a:p>
            <a:endParaRPr lang="en-IN" dirty="0"/>
          </a:p>
        </p:txBody>
      </p:sp>
      <p:pic>
        <p:nvPicPr>
          <p:cNvPr id="6" name="Picture 5">
            <a:extLst>
              <a:ext uri="{FF2B5EF4-FFF2-40B4-BE49-F238E27FC236}">
                <a16:creationId xmlns:a16="http://schemas.microsoft.com/office/drawing/2014/main" id="{67FECB72-2ED1-93BB-5849-5D4984D040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536" y="1573638"/>
            <a:ext cx="12096464" cy="3783080"/>
          </a:xfrm>
          <a:prstGeom prst="rect">
            <a:avLst/>
          </a:prstGeom>
        </p:spPr>
      </p:pic>
      <p:sp>
        <p:nvSpPr>
          <p:cNvPr id="7" name="TextBox 6">
            <a:extLst>
              <a:ext uri="{FF2B5EF4-FFF2-40B4-BE49-F238E27FC236}">
                <a16:creationId xmlns:a16="http://schemas.microsoft.com/office/drawing/2014/main" id="{E4C7C8EE-896C-B6AE-F995-9B6C8714B2A9}"/>
              </a:ext>
            </a:extLst>
          </p:cNvPr>
          <p:cNvSpPr txBox="1"/>
          <p:nvPr/>
        </p:nvSpPr>
        <p:spPr>
          <a:xfrm>
            <a:off x="0" y="5356718"/>
            <a:ext cx="12191999" cy="2123658"/>
          </a:xfrm>
          <a:prstGeom prst="rect">
            <a:avLst/>
          </a:prstGeom>
          <a:solidFill>
            <a:schemeClr val="accent6">
              <a:lumMod val="40000"/>
              <a:lumOff val="60000"/>
            </a:schemeClr>
          </a:solidFill>
        </p:spPr>
        <p:txBody>
          <a:bodyPr wrap="square" rtlCol="0">
            <a:spAutoFit/>
          </a:bodyPr>
          <a:lstStyle/>
          <a:p>
            <a:r>
              <a:rPr lang="en-US" sz="2400" b="1" dirty="0">
                <a:solidFill>
                  <a:schemeClr val="accent6">
                    <a:lumMod val="50000"/>
                  </a:schemeClr>
                </a:solidFill>
              </a:rPr>
              <a:t>Insights:</a:t>
            </a:r>
          </a:p>
          <a:p>
            <a:pPr marL="285750" indent="-285750">
              <a:buFont typeface="Arial" panose="020B0604020202020204" pitchFamily="34" charset="0"/>
              <a:buChar char="•"/>
            </a:pPr>
            <a:r>
              <a:rPr lang="en-US" dirty="0"/>
              <a:t>Product pairs with high lift values indicate a strong likelihood of being purchased together compared to random chance.</a:t>
            </a:r>
          </a:p>
          <a:p>
            <a:pPr marL="285750" indent="-285750">
              <a:buFont typeface="Arial" panose="020B0604020202020204" pitchFamily="34" charset="0"/>
              <a:buChar char="•"/>
            </a:pPr>
            <a:r>
              <a:rPr lang="en-US" dirty="0"/>
              <a:t>SET/6 Red Spotty Paper Plates and SET/6 Red Spotty Paper Cups show the highest lift, suggesting a strong complementary relationship.</a:t>
            </a:r>
          </a:p>
          <a:p>
            <a:pPr marL="285750" indent="-285750">
              <a:buFont typeface="Arial" panose="020B0604020202020204" pitchFamily="34" charset="0"/>
              <a:buChar char="•"/>
            </a:pPr>
            <a:r>
              <a:rPr lang="en-US" dirty="0"/>
              <a:t>Such high-lift product combinations can be effectively used for bundle offers, cross-selling, and store layout optimization.</a:t>
            </a:r>
          </a:p>
        </p:txBody>
      </p:sp>
    </p:spTree>
    <p:extLst>
      <p:ext uri="{BB962C8B-B14F-4D97-AF65-F5344CB8AC3E}">
        <p14:creationId xmlns:p14="http://schemas.microsoft.com/office/powerpoint/2010/main" val="32556352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DD7D6-E494-0C64-0A35-AB0F9FEB9C2B}"/>
              </a:ext>
            </a:extLst>
          </p:cNvPr>
          <p:cNvSpPr>
            <a:spLocks noGrp="1"/>
          </p:cNvSpPr>
          <p:nvPr>
            <p:ph type="title"/>
          </p:nvPr>
        </p:nvSpPr>
        <p:spPr>
          <a:xfrm>
            <a:off x="0" y="201352"/>
            <a:ext cx="12192000" cy="945060"/>
          </a:xfrm>
          <a:solidFill>
            <a:schemeClr val="accent6">
              <a:lumMod val="40000"/>
              <a:lumOff val="60000"/>
            </a:schemeClr>
          </a:solidFill>
        </p:spPr>
        <p:txBody>
          <a:bodyPr/>
          <a:lstStyle/>
          <a:p>
            <a:r>
              <a:rPr lang="en-IN" b="1" dirty="0">
                <a:solidFill>
                  <a:schemeClr val="accent6">
                    <a:lumMod val="50000"/>
                  </a:schemeClr>
                </a:solidFill>
              </a:rPr>
              <a:t>       </a:t>
            </a:r>
            <a:r>
              <a:rPr lang="en-IN" b="1" u="sng" dirty="0">
                <a:solidFill>
                  <a:schemeClr val="accent6">
                    <a:lumMod val="50000"/>
                  </a:schemeClr>
                </a:solidFill>
              </a:rPr>
              <a:t>Key Association Insights</a:t>
            </a:r>
          </a:p>
        </p:txBody>
      </p:sp>
      <p:sp>
        <p:nvSpPr>
          <p:cNvPr id="3" name="Content Placeholder 2">
            <a:extLst>
              <a:ext uri="{FF2B5EF4-FFF2-40B4-BE49-F238E27FC236}">
                <a16:creationId xmlns:a16="http://schemas.microsoft.com/office/drawing/2014/main" id="{2BCD93A8-D0BA-EFC4-B479-440B5035D36E}"/>
              </a:ext>
            </a:extLst>
          </p:cNvPr>
          <p:cNvSpPr>
            <a:spLocks noGrp="1"/>
          </p:cNvSpPr>
          <p:nvPr>
            <p:ph idx="1"/>
          </p:nvPr>
        </p:nvSpPr>
        <p:spPr>
          <a:xfrm>
            <a:off x="838200" y="2043989"/>
            <a:ext cx="10515600" cy="4351338"/>
          </a:xfrm>
        </p:spPr>
        <p:txBody>
          <a:bodyPr>
            <a:normAutofit/>
          </a:bodyPr>
          <a:lstStyle/>
          <a:p>
            <a:r>
              <a:rPr lang="en-US" sz="2000" dirty="0"/>
              <a:t>Strong complementary relationships between party decoration items.</a:t>
            </a:r>
          </a:p>
          <a:p>
            <a:endParaRPr lang="en-US" sz="2000" dirty="0"/>
          </a:p>
          <a:p>
            <a:r>
              <a:rPr lang="en-US" sz="2000" dirty="0"/>
              <a:t>Themed product combinations frequently purchased together</a:t>
            </a:r>
          </a:p>
          <a:p>
            <a:endParaRPr lang="en-US" sz="2000" dirty="0"/>
          </a:p>
          <a:p>
            <a:r>
              <a:rPr lang="en-US" sz="2000" dirty="0"/>
              <a:t>Certain product pairs significantly increase basket size</a:t>
            </a:r>
          </a:p>
          <a:p>
            <a:endParaRPr lang="en-US" sz="2000" dirty="0"/>
          </a:p>
          <a:p>
            <a:r>
              <a:rPr lang="en-US" sz="2000" dirty="0"/>
              <a:t>High-lift product combinations present strong bundling opportunities</a:t>
            </a:r>
            <a:endParaRPr lang="en-IN" sz="2000" dirty="0"/>
          </a:p>
        </p:txBody>
      </p:sp>
    </p:spTree>
    <p:extLst>
      <p:ext uri="{BB962C8B-B14F-4D97-AF65-F5344CB8AC3E}">
        <p14:creationId xmlns:p14="http://schemas.microsoft.com/office/powerpoint/2010/main" val="730978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D07FF-B31D-6A3A-861D-7146E0C47AD7}"/>
              </a:ext>
            </a:extLst>
          </p:cNvPr>
          <p:cNvSpPr>
            <a:spLocks noGrp="1"/>
          </p:cNvSpPr>
          <p:nvPr>
            <p:ph type="title"/>
          </p:nvPr>
        </p:nvSpPr>
        <p:spPr>
          <a:xfrm>
            <a:off x="0" y="365126"/>
            <a:ext cx="12192000" cy="945060"/>
          </a:xfrm>
          <a:solidFill>
            <a:schemeClr val="accent6">
              <a:lumMod val="40000"/>
              <a:lumOff val="60000"/>
            </a:schemeClr>
          </a:solidFill>
        </p:spPr>
        <p:txBody>
          <a:bodyPr/>
          <a:lstStyle/>
          <a:p>
            <a:r>
              <a:rPr lang="en-IN" b="1" dirty="0">
                <a:solidFill>
                  <a:schemeClr val="accent6">
                    <a:lumMod val="50000"/>
                  </a:schemeClr>
                </a:solidFill>
              </a:rPr>
              <a:t>       </a:t>
            </a:r>
            <a:r>
              <a:rPr lang="en-IN" b="1" u="sng" dirty="0">
                <a:solidFill>
                  <a:schemeClr val="accent6">
                    <a:lumMod val="50000"/>
                  </a:schemeClr>
                </a:solidFill>
              </a:rPr>
              <a:t>Business Recommendations</a:t>
            </a:r>
          </a:p>
        </p:txBody>
      </p:sp>
      <p:sp>
        <p:nvSpPr>
          <p:cNvPr id="3" name="Content Placeholder 2">
            <a:extLst>
              <a:ext uri="{FF2B5EF4-FFF2-40B4-BE49-F238E27FC236}">
                <a16:creationId xmlns:a16="http://schemas.microsoft.com/office/drawing/2014/main" id="{5EF377AD-C9D2-6449-0C43-8F321AA17E8D}"/>
              </a:ext>
            </a:extLst>
          </p:cNvPr>
          <p:cNvSpPr>
            <a:spLocks noGrp="1"/>
          </p:cNvSpPr>
          <p:nvPr>
            <p:ph idx="1"/>
          </p:nvPr>
        </p:nvSpPr>
        <p:spPr>
          <a:xfrm>
            <a:off x="838200" y="2141537"/>
            <a:ext cx="10515600" cy="4351338"/>
          </a:xfrm>
        </p:spPr>
        <p:txBody>
          <a:bodyPr>
            <a:normAutofit/>
          </a:bodyPr>
          <a:lstStyle/>
          <a:p>
            <a:r>
              <a:rPr lang="en-IN" sz="2000" dirty="0"/>
              <a:t>Bundle high-lift product combinations</a:t>
            </a:r>
          </a:p>
          <a:p>
            <a:endParaRPr lang="en-IN" sz="2000" dirty="0"/>
          </a:p>
          <a:p>
            <a:r>
              <a:rPr lang="en-US" sz="2000" dirty="0"/>
              <a:t>Optimize physical store layout based on product associations</a:t>
            </a:r>
          </a:p>
          <a:p>
            <a:endParaRPr lang="en-US" sz="2000" dirty="0"/>
          </a:p>
          <a:p>
            <a:r>
              <a:rPr lang="en-US" sz="2000" dirty="0"/>
              <a:t>Implement cross-selling recommendations in e-commerce platforms</a:t>
            </a:r>
          </a:p>
          <a:p>
            <a:endParaRPr lang="en-US" sz="2000" dirty="0"/>
          </a:p>
          <a:p>
            <a:r>
              <a:rPr lang="en-US" sz="2000" dirty="0"/>
              <a:t>Introduce combo discounts for complementary products</a:t>
            </a:r>
          </a:p>
          <a:p>
            <a:endParaRPr lang="en-US" sz="2000" dirty="0"/>
          </a:p>
          <a:p>
            <a:r>
              <a:rPr lang="en-US" sz="2000" dirty="0"/>
              <a:t>Expand geographically to reduce market concentration risk</a:t>
            </a:r>
            <a:endParaRPr lang="en-IN" sz="2000" dirty="0"/>
          </a:p>
        </p:txBody>
      </p:sp>
    </p:spTree>
    <p:extLst>
      <p:ext uri="{BB962C8B-B14F-4D97-AF65-F5344CB8AC3E}">
        <p14:creationId xmlns:p14="http://schemas.microsoft.com/office/powerpoint/2010/main" val="954315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B3E65-7EEA-F170-3D26-0BBCF22F3555}"/>
              </a:ext>
            </a:extLst>
          </p:cNvPr>
          <p:cNvSpPr>
            <a:spLocks noGrp="1"/>
          </p:cNvSpPr>
          <p:nvPr>
            <p:ph type="title"/>
          </p:nvPr>
        </p:nvSpPr>
        <p:spPr>
          <a:xfrm>
            <a:off x="0" y="269590"/>
            <a:ext cx="12192000" cy="945061"/>
          </a:xfrm>
          <a:solidFill>
            <a:schemeClr val="accent6">
              <a:lumMod val="40000"/>
              <a:lumOff val="60000"/>
            </a:schemeClr>
          </a:solidFill>
        </p:spPr>
        <p:txBody>
          <a:bodyPr/>
          <a:lstStyle/>
          <a:p>
            <a:r>
              <a:rPr lang="en-IN" b="1" dirty="0">
                <a:solidFill>
                  <a:schemeClr val="accent6">
                    <a:lumMod val="50000"/>
                  </a:schemeClr>
                </a:solidFill>
              </a:rPr>
              <a:t>       </a:t>
            </a:r>
            <a:r>
              <a:rPr lang="en-IN" b="1" u="sng" dirty="0">
                <a:solidFill>
                  <a:schemeClr val="accent6">
                    <a:lumMod val="50000"/>
                  </a:schemeClr>
                </a:solidFill>
              </a:rPr>
              <a:t>Expected Business Impact</a:t>
            </a:r>
          </a:p>
        </p:txBody>
      </p:sp>
      <p:sp>
        <p:nvSpPr>
          <p:cNvPr id="3" name="Content Placeholder 2">
            <a:extLst>
              <a:ext uri="{FF2B5EF4-FFF2-40B4-BE49-F238E27FC236}">
                <a16:creationId xmlns:a16="http://schemas.microsoft.com/office/drawing/2014/main" id="{6EC06CA5-F8F8-5D4D-F788-5E4C13534751}"/>
              </a:ext>
            </a:extLst>
          </p:cNvPr>
          <p:cNvSpPr>
            <a:spLocks noGrp="1"/>
          </p:cNvSpPr>
          <p:nvPr>
            <p:ph idx="1"/>
          </p:nvPr>
        </p:nvSpPr>
        <p:spPr>
          <a:xfrm>
            <a:off x="838200" y="2141537"/>
            <a:ext cx="10515600" cy="4351338"/>
          </a:xfrm>
        </p:spPr>
        <p:txBody>
          <a:bodyPr>
            <a:normAutofit/>
          </a:bodyPr>
          <a:lstStyle/>
          <a:p>
            <a:r>
              <a:rPr lang="en-US" sz="2000" dirty="0"/>
              <a:t>Increase in Average Order Value (AOV)</a:t>
            </a:r>
          </a:p>
          <a:p>
            <a:endParaRPr lang="en-US" sz="2000" dirty="0"/>
          </a:p>
          <a:p>
            <a:r>
              <a:rPr lang="en-IN" sz="2000" dirty="0"/>
              <a:t>Improved cross-selling performance</a:t>
            </a:r>
          </a:p>
          <a:p>
            <a:endParaRPr lang="en-IN" sz="2000" dirty="0"/>
          </a:p>
          <a:p>
            <a:r>
              <a:rPr lang="en-IN" sz="2000" dirty="0"/>
              <a:t>Better inventory planning</a:t>
            </a:r>
          </a:p>
          <a:p>
            <a:endParaRPr lang="en-IN" sz="2000" dirty="0"/>
          </a:p>
          <a:p>
            <a:r>
              <a:rPr lang="en-IN" sz="2000" dirty="0"/>
              <a:t>Enhanced customer shopping experience</a:t>
            </a:r>
          </a:p>
          <a:p>
            <a:endParaRPr lang="en-IN" sz="2000" dirty="0"/>
          </a:p>
          <a:p>
            <a:r>
              <a:rPr lang="en-IN" sz="2000" dirty="0"/>
              <a:t>Data-driven merchandising strategy</a:t>
            </a:r>
          </a:p>
        </p:txBody>
      </p:sp>
    </p:spTree>
    <p:extLst>
      <p:ext uri="{BB962C8B-B14F-4D97-AF65-F5344CB8AC3E}">
        <p14:creationId xmlns:p14="http://schemas.microsoft.com/office/powerpoint/2010/main" val="1826133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821F7-8676-5EA9-4DC7-9A657ABBB659}"/>
              </a:ext>
            </a:extLst>
          </p:cNvPr>
          <p:cNvSpPr>
            <a:spLocks noGrp="1"/>
          </p:cNvSpPr>
          <p:nvPr>
            <p:ph type="title"/>
          </p:nvPr>
        </p:nvSpPr>
        <p:spPr>
          <a:xfrm>
            <a:off x="0" y="122831"/>
            <a:ext cx="12192000" cy="859808"/>
          </a:xfrm>
          <a:solidFill>
            <a:schemeClr val="accent6">
              <a:lumMod val="40000"/>
              <a:lumOff val="60000"/>
            </a:schemeClr>
          </a:solidFill>
        </p:spPr>
        <p:txBody>
          <a:bodyPr/>
          <a:lstStyle/>
          <a:p>
            <a:r>
              <a:rPr lang="en-IN" b="1" dirty="0">
                <a:solidFill>
                  <a:schemeClr val="accent6">
                    <a:lumMod val="50000"/>
                  </a:schemeClr>
                </a:solidFill>
              </a:rPr>
              <a:t> </a:t>
            </a:r>
            <a:r>
              <a:rPr lang="en-IN" b="1" u="sng" dirty="0">
                <a:solidFill>
                  <a:schemeClr val="accent6">
                    <a:lumMod val="50000"/>
                  </a:schemeClr>
                </a:solidFill>
              </a:rPr>
              <a:t>Conclusion</a:t>
            </a:r>
          </a:p>
        </p:txBody>
      </p:sp>
      <p:sp>
        <p:nvSpPr>
          <p:cNvPr id="3" name="Content Placeholder 2">
            <a:extLst>
              <a:ext uri="{FF2B5EF4-FFF2-40B4-BE49-F238E27FC236}">
                <a16:creationId xmlns:a16="http://schemas.microsoft.com/office/drawing/2014/main" id="{B3EBA1D5-62D8-2DCF-FFFB-D539B4C6BD4C}"/>
              </a:ext>
            </a:extLst>
          </p:cNvPr>
          <p:cNvSpPr>
            <a:spLocks noGrp="1"/>
          </p:cNvSpPr>
          <p:nvPr>
            <p:ph idx="1"/>
          </p:nvPr>
        </p:nvSpPr>
        <p:spPr>
          <a:xfrm>
            <a:off x="148883" y="1573946"/>
            <a:ext cx="10515600" cy="4677344"/>
          </a:xfrm>
        </p:spPr>
        <p:txBody>
          <a:bodyPr>
            <a:normAutofit fontScale="92500"/>
          </a:bodyPr>
          <a:lstStyle/>
          <a:p>
            <a:r>
              <a:rPr lang="en-US" sz="2400" dirty="0"/>
              <a:t>This project successfully analyzed retail transaction data to identify meaningful customer purchase patterns. Through structured data cleaning, exploratory analysis, and implementation of the </a:t>
            </a:r>
            <a:r>
              <a:rPr lang="en-US" sz="2400" dirty="0" err="1"/>
              <a:t>Apriori</a:t>
            </a:r>
            <a:r>
              <a:rPr lang="en-US" sz="2400" dirty="0"/>
              <a:t> algorithm, strong product associations were discovered.</a:t>
            </a:r>
          </a:p>
          <a:p>
            <a:endParaRPr lang="en-US" sz="2400" dirty="0"/>
          </a:p>
          <a:p>
            <a:r>
              <a:rPr lang="en-US" sz="2400" dirty="0"/>
              <a:t>The results highlight clear cross-selling and bundling opportunities that can improve average order value and overall revenue. The findings also support better inventory planning and data-driven merchandising decisions.</a:t>
            </a:r>
          </a:p>
          <a:p>
            <a:endParaRPr lang="en-US" sz="2400" dirty="0"/>
          </a:p>
          <a:p>
            <a:r>
              <a:rPr lang="en-US" sz="2400" dirty="0"/>
              <a:t>Overall, the project demonstrates how Market Basket Analysis can transform raw transaction data into actionable business insights that directly support strategic growth and operational efficiency.</a:t>
            </a:r>
            <a:endParaRPr lang="en-IN" sz="2400" dirty="0"/>
          </a:p>
        </p:txBody>
      </p:sp>
    </p:spTree>
    <p:extLst>
      <p:ext uri="{BB962C8B-B14F-4D97-AF65-F5344CB8AC3E}">
        <p14:creationId xmlns:p14="http://schemas.microsoft.com/office/powerpoint/2010/main" val="96293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FE656-CAC3-F5C3-9010-0B54D5C3E9F4}"/>
              </a:ext>
            </a:extLst>
          </p:cNvPr>
          <p:cNvSpPr>
            <a:spLocks noGrp="1"/>
          </p:cNvSpPr>
          <p:nvPr>
            <p:ph type="title"/>
          </p:nvPr>
        </p:nvSpPr>
        <p:spPr>
          <a:xfrm>
            <a:off x="0" y="365126"/>
            <a:ext cx="12192000" cy="931412"/>
          </a:xfrm>
          <a:solidFill>
            <a:schemeClr val="accent6">
              <a:lumMod val="40000"/>
              <a:lumOff val="60000"/>
            </a:schemeClr>
          </a:solidFill>
        </p:spPr>
        <p:txBody>
          <a:bodyPr/>
          <a:lstStyle/>
          <a:p>
            <a:r>
              <a:rPr lang="en-US" b="1" dirty="0">
                <a:solidFill>
                  <a:schemeClr val="accent6">
                    <a:lumMod val="50000"/>
                  </a:schemeClr>
                </a:solidFill>
              </a:rPr>
              <a:t>   </a:t>
            </a:r>
            <a:r>
              <a:rPr lang="en-US" b="1" u="sng" dirty="0">
                <a:solidFill>
                  <a:schemeClr val="accent6">
                    <a:lumMod val="50000"/>
                  </a:schemeClr>
                </a:solidFill>
              </a:rPr>
              <a:t>GitHub Repository</a:t>
            </a:r>
            <a:endParaRPr lang="en-IN" b="1" u="sng" dirty="0">
              <a:solidFill>
                <a:schemeClr val="accent6">
                  <a:lumMod val="50000"/>
                </a:schemeClr>
              </a:solidFill>
            </a:endParaRPr>
          </a:p>
        </p:txBody>
      </p:sp>
      <p:sp>
        <p:nvSpPr>
          <p:cNvPr id="3" name="Content Placeholder 2">
            <a:extLst>
              <a:ext uri="{FF2B5EF4-FFF2-40B4-BE49-F238E27FC236}">
                <a16:creationId xmlns:a16="http://schemas.microsoft.com/office/drawing/2014/main" id="{433B4D49-EB3F-4D15-E416-FD69FAB622F6}"/>
              </a:ext>
            </a:extLst>
          </p:cNvPr>
          <p:cNvSpPr>
            <a:spLocks noGrp="1"/>
          </p:cNvSpPr>
          <p:nvPr>
            <p:ph idx="1"/>
          </p:nvPr>
        </p:nvSpPr>
        <p:spPr>
          <a:xfrm>
            <a:off x="450376" y="1787857"/>
            <a:ext cx="11450472" cy="4572000"/>
          </a:xfrm>
        </p:spPr>
        <p:txBody>
          <a:bodyPr/>
          <a:lstStyle/>
          <a:p>
            <a:pPr marL="0" indent="0">
              <a:buNone/>
            </a:pPr>
            <a:r>
              <a:rPr lang="en-US" sz="2000" dirty="0"/>
              <a:t>The complete project implementation, including data preprocessing scripts,</a:t>
            </a:r>
          </a:p>
          <a:p>
            <a:pPr marL="0" indent="0">
              <a:buNone/>
            </a:pPr>
            <a:r>
              <a:rPr lang="en-US" sz="2000" dirty="0" err="1"/>
              <a:t>Apriori</a:t>
            </a:r>
            <a:r>
              <a:rPr lang="en-US" sz="2000" dirty="0"/>
              <a:t> algorithm implementation, and visualization code, is available at:</a:t>
            </a:r>
          </a:p>
          <a:p>
            <a:pPr marL="0" indent="0">
              <a:buNone/>
            </a:pPr>
            <a:endParaRPr lang="en-US" dirty="0"/>
          </a:p>
          <a:p>
            <a:pPr marL="0" indent="0">
              <a:buNone/>
            </a:pPr>
            <a:r>
              <a:rPr lang="en-IN" sz="2000" dirty="0">
                <a:solidFill>
                  <a:schemeClr val="tx2">
                    <a:lumMod val="60000"/>
                    <a:lumOff val="40000"/>
                  </a:schemeClr>
                </a:solidFill>
              </a:rPr>
              <a:t>🔗 </a:t>
            </a:r>
            <a:r>
              <a:rPr lang="en-IN" sz="2400" dirty="0">
                <a:solidFill>
                  <a:schemeClr val="tx2">
                    <a:lumMod val="60000"/>
                    <a:lumOff val="40000"/>
                  </a:schemeClr>
                </a:solidFill>
              </a:rPr>
              <a:t>GitHub Repository:</a:t>
            </a:r>
          </a:p>
          <a:p>
            <a:pPr marL="0" indent="0">
              <a:buNone/>
            </a:pPr>
            <a:r>
              <a:rPr lang="en-IN" sz="2400" dirty="0">
                <a:solidFill>
                  <a:schemeClr val="accent3">
                    <a:lumMod val="75000"/>
                  </a:schemeClr>
                </a:solidFill>
              </a:rPr>
              <a:t>     </a:t>
            </a:r>
            <a:r>
              <a:rPr lang="en-IN" sz="2000" dirty="0">
                <a:solidFill>
                  <a:schemeClr val="bg2">
                    <a:lumMod val="25000"/>
                  </a:schemeClr>
                </a:solidFill>
              </a:rPr>
              <a:t>Repository Link :  </a:t>
            </a:r>
            <a:r>
              <a:rPr lang="en-IN" sz="2000" b="1" dirty="0">
                <a:solidFill>
                  <a:schemeClr val="accent6">
                    <a:lumMod val="75000"/>
                  </a:schemeClr>
                </a:solidFill>
                <a:hlinkClick r:id="rId2">
                  <a:extLst>
                    <a:ext uri="{A12FA001-AC4F-418D-AE19-62706E023703}">
                      <ahyp:hlinkClr xmlns:ahyp="http://schemas.microsoft.com/office/drawing/2018/hyperlinkcolor" val="tx"/>
                    </a:ext>
                  </a:extLst>
                </a:hlinkClick>
              </a:rPr>
              <a:t>LINK</a:t>
            </a:r>
            <a:r>
              <a:rPr lang="en-IN" sz="2000" b="1" dirty="0">
                <a:solidFill>
                  <a:schemeClr val="accent6">
                    <a:lumMod val="75000"/>
                  </a:schemeClr>
                </a:solidFill>
              </a:rPr>
              <a:t>   </a:t>
            </a:r>
            <a:r>
              <a:rPr lang="en-IN" sz="2000" dirty="0">
                <a:solidFill>
                  <a:schemeClr val="accent6">
                    <a:lumMod val="75000"/>
                  </a:schemeClr>
                </a:solidFill>
              </a:rPr>
              <a:t>(</a:t>
            </a:r>
            <a:r>
              <a:rPr lang="en-IN" dirty="0">
                <a:solidFill>
                  <a:schemeClr val="accent6">
                    <a:lumMod val="75000"/>
                  </a:schemeClr>
                </a:solidFill>
              </a:rPr>
              <a:t>Click on the link to see the GitHub Repository</a:t>
            </a:r>
            <a:r>
              <a:rPr lang="en-IN" sz="2000" dirty="0">
                <a:solidFill>
                  <a:schemeClr val="accent6">
                    <a:lumMod val="75000"/>
                  </a:schemeClr>
                </a:solidFill>
              </a:rPr>
              <a:t>)</a:t>
            </a:r>
            <a:endParaRPr lang="en-IN" dirty="0">
              <a:solidFill>
                <a:schemeClr val="accent6">
                  <a:lumMod val="75000"/>
                </a:schemeClr>
              </a:solidFill>
            </a:endParaRPr>
          </a:p>
        </p:txBody>
      </p:sp>
    </p:spTree>
    <p:extLst>
      <p:ext uri="{BB962C8B-B14F-4D97-AF65-F5344CB8AC3E}">
        <p14:creationId xmlns:p14="http://schemas.microsoft.com/office/powerpoint/2010/main" val="238565902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52</TotalTime>
  <Words>1031</Words>
  <Application>Microsoft Office PowerPoint</Application>
  <PresentationFormat>Widescreen</PresentationFormat>
  <Paragraphs>149</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Bahnschrift</vt:lpstr>
      <vt:lpstr>Constantia</vt:lpstr>
      <vt:lpstr>system-ui</vt:lpstr>
      <vt:lpstr>Trebuchet MS</vt:lpstr>
      <vt:lpstr>Wingdings</vt:lpstr>
      <vt:lpstr>Wingdings 3</vt:lpstr>
      <vt:lpstr>Facet</vt:lpstr>
      <vt:lpstr>Final Project Documentation</vt:lpstr>
      <vt:lpstr>     Project Overview</vt:lpstr>
      <vt:lpstr>     Dataset Description</vt:lpstr>
      <vt:lpstr>     Data Cleaning &amp; Preprocessing</vt:lpstr>
      <vt:lpstr>Exploratory Data Analysis (EDA)</vt:lpstr>
      <vt:lpstr>Top 10 product by quantity</vt:lpstr>
      <vt:lpstr>Top 10 product by revenue</vt:lpstr>
      <vt:lpstr>Quantity distribution</vt:lpstr>
      <vt:lpstr>    Country-wise Sales</vt:lpstr>
      <vt:lpstr>    Quantity vs Unit Price Distribution</vt:lpstr>
      <vt:lpstr>EDA Summary / Key findings </vt:lpstr>
      <vt:lpstr>  Market Basket Analysis (Apriori Implementation)</vt:lpstr>
      <vt:lpstr>    Frequent Itemset Identified</vt:lpstr>
      <vt:lpstr>    Lift Visualization</vt:lpstr>
      <vt:lpstr>       Key Association Insights</vt:lpstr>
      <vt:lpstr>       Business Recommendations</vt:lpstr>
      <vt:lpstr>       Expected Business Impact</vt:lpstr>
      <vt:lpstr> Conclusion</vt:lpstr>
      <vt:lpstr>   GitHub Repository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 Raj Sinha</dc:creator>
  <cp:lastModifiedBy>Ankit Raj Sinha</cp:lastModifiedBy>
  <cp:revision>1</cp:revision>
  <dcterms:created xsi:type="dcterms:W3CDTF">2026-02-19T14:43:11Z</dcterms:created>
  <dcterms:modified xsi:type="dcterms:W3CDTF">2026-02-20T05:33:51Z</dcterms:modified>
</cp:coreProperties>
</file>