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>
        <p:scale>
          <a:sx n="68" d="100"/>
          <a:sy n="68" d="100"/>
        </p:scale>
        <p:origin x="81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889B12-C642-9111-328A-EEB4214D0E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7CA387E-2881-78FB-00D5-C37976BD6E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66C705-3756-798C-EF56-EE154D9D62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5284A2-D243-4906-8826-1432308341DF}" type="datetimeFigureOut">
              <a:rPr lang="en-IN" smtClean="0"/>
              <a:t>11-02-2026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2C84BF-7EB9-9E3D-7ABF-FBBB87AC90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621BC7-E48C-EC41-9F5F-C3FA5DEB9F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F51D05-7D25-45DB-B0C5-68FBF5A400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968469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08C916-CC2E-6856-01A6-2C9CE19CD0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010749-E6DA-96FC-A614-B73A101912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9C79B2-5C25-7C0A-425A-0B8D2B6C09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5284A2-D243-4906-8826-1432308341DF}" type="datetimeFigureOut">
              <a:rPr lang="en-IN" smtClean="0"/>
              <a:t>11-02-2026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BA32E2-A00A-F570-ECB7-6DC424BCCD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3F53D7-9A64-3655-0ACE-B081DF6946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F51D05-7D25-45DB-B0C5-68FBF5A400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75243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A48F51-7453-6831-2747-823594ADBD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EA6BC5-763A-D4BF-8715-255337D326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1AE22A-829C-BEC2-CFD1-D19CBB5414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5284A2-D243-4906-8826-1432308341DF}" type="datetimeFigureOut">
              <a:rPr lang="en-IN" smtClean="0"/>
              <a:t>11-02-2026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26E7CF-6BC9-A2A4-B5D0-B6DAAEB1EB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D40354-0BEA-296B-80E9-5E16CAFA64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F51D05-7D25-45DB-B0C5-68FBF5A400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56841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A9A54C-31AC-CEC0-CE37-BB9561AF39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9BDFF1-2832-6EDF-2937-B3C49016983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DD565AA-396D-7693-F366-2065086240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F4CD4D-B632-C7F6-A279-C3C8B13DB8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5284A2-D243-4906-8826-1432308341DF}" type="datetimeFigureOut">
              <a:rPr lang="en-IN" smtClean="0"/>
              <a:t>11-02-2026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DD3794-C371-0574-83FF-269E6914F7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20063F-479F-3B41-A394-912CBB106D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F51D05-7D25-45DB-B0C5-68FBF5A400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86562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D90900-37FD-49A7-1487-AEF65AB0CF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68455A-6720-88AE-2BB3-7BE725BF4D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6DFD28-F68C-ADE3-34F0-8855025AC8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BB47B24-A332-1DD8-7EAD-E932971C811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BD31059-E342-3022-B8BD-7A507E020EB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478AFD5-CB27-4A26-683A-6EE1D4DA37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5284A2-D243-4906-8826-1432308341DF}" type="datetimeFigureOut">
              <a:rPr lang="en-IN" smtClean="0"/>
              <a:t>11-02-2026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F11C2CE-2315-692A-0E35-732992A745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6A15BF-9DCA-C64E-A604-85EACA7724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F51D05-7D25-45DB-B0C5-68FBF5A400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90388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F1D744-76F5-0F1E-EAD3-FC7596BDC3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C5E7808-2B96-EB60-2AFB-113AB81352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5284A2-D243-4906-8826-1432308341DF}" type="datetimeFigureOut">
              <a:rPr lang="en-IN" smtClean="0"/>
              <a:t>11-02-2026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EDFE9F-1F93-C03C-79FE-85FEAE342C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EB62E09-8E17-ECF3-9F3C-9C26BC6533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F51D05-7D25-45DB-B0C5-68FBF5A400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280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ED1DE3E-C32C-CBBE-CCE3-9EF3C13E11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5284A2-D243-4906-8826-1432308341DF}" type="datetimeFigureOut">
              <a:rPr lang="en-IN" smtClean="0"/>
              <a:t>11-02-2026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37120E0-076B-3B83-FB27-CB35C259B4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DD1742-809D-5397-F1AD-F3E656D4E5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F51D05-7D25-45DB-B0C5-68FBF5A400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85384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A13174-7264-4583-88AF-93F59A6939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182912-4786-F15E-2FB6-EA9BD90E97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28CD02C-979D-44B3-D4C1-DA6704BB8B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D93F04-87E2-E9E3-45C5-93F3D8059C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5284A2-D243-4906-8826-1432308341DF}" type="datetimeFigureOut">
              <a:rPr lang="en-IN" smtClean="0"/>
              <a:t>11-02-2026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9C2642-BDA3-5A37-8ACC-3ADF2649FB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38F996-C72D-EE22-189E-D1CE5F0FC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F51D05-7D25-45DB-B0C5-68FBF5A400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316005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6EC59-E6CB-C552-1631-8A4B256D29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0AB8C03-6642-3065-6D07-420743D277D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FD1FBE1-CBCD-6DD2-726A-15F783CB73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159F7A-EB43-F573-9394-BC1E43EEEC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5284A2-D243-4906-8826-1432308341DF}" type="datetimeFigureOut">
              <a:rPr lang="en-IN" smtClean="0"/>
              <a:t>11-02-2026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EF1C30-9FA7-5528-540D-AFD52FDCCC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53E13F-8B83-AAFD-B338-0141A98D6B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F51D05-7D25-45DB-B0C5-68FBF5A400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813175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DF62A7-F747-42F5-69BE-E3DE45AD4A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0E59C5C-DC23-8F1E-37C7-1A33ED893C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9EC9B4-B02C-8FFF-BC0F-507147F27B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5284A2-D243-4906-8826-1432308341DF}" type="datetimeFigureOut">
              <a:rPr lang="en-IN" smtClean="0"/>
              <a:t>11-02-2026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BE5B29-30FD-2DDE-8801-F57203838B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205E18-CDCB-8054-B58F-84D32C0FAA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F51D05-7D25-45DB-B0C5-68FBF5A400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23378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FD464CE-713E-8BBC-8235-83B4AE486C8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665D330-E3B5-1AB2-2164-E7D3281A6A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36ED55-A204-BD66-18DA-9874D3A05A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5284A2-D243-4906-8826-1432308341DF}" type="datetimeFigureOut">
              <a:rPr lang="en-IN" smtClean="0"/>
              <a:t>11-02-2026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C2C988-0A3C-AD9F-BC8D-C105661720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4BA6AE-B41C-1591-B7D4-34FAC3C548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F51D05-7D25-45DB-B0C5-68FBF5A400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76286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258201A-CEEE-7A88-D68B-95DD1AD76A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30AF89-1E90-8F85-6D90-1AD6E4B3BF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CAD260-F27F-B0F8-277E-B219B71CEDD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5284A2-D243-4906-8826-1432308341DF}" type="datetimeFigureOut">
              <a:rPr lang="en-IN" smtClean="0"/>
              <a:t>11-02-2026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4E6D0C-53F0-08B5-4A76-7B4B25592EC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242FF2-963E-A078-5C9A-4101C1E4AE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F51D05-7D25-45DB-B0C5-68FBF5A400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01669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3BF676-F882-0750-5742-4133ABBCB0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732619"/>
            <a:ext cx="9144000" cy="2387600"/>
          </a:xfrm>
        </p:spPr>
        <p:txBody>
          <a:bodyPr/>
          <a:lstStyle/>
          <a:p>
            <a:r>
              <a:rPr lang="en-IN" b="1" dirty="0">
                <a:solidFill>
                  <a:schemeClr val="accent6">
                    <a:lumMod val="50000"/>
                  </a:schemeClr>
                </a:solidFill>
              </a:rPr>
              <a:t>Data Visualization &amp; </a:t>
            </a:r>
            <a:r>
              <a:rPr lang="en-IN" b="1" dirty="0" err="1">
                <a:solidFill>
                  <a:schemeClr val="accent6">
                    <a:lumMod val="50000"/>
                  </a:schemeClr>
                </a:solidFill>
              </a:rPr>
              <a:t>Apriori</a:t>
            </a:r>
            <a:r>
              <a:rPr lang="en-IN" b="1" dirty="0">
                <a:solidFill>
                  <a:schemeClr val="accent6">
                    <a:lumMod val="50000"/>
                  </a:schemeClr>
                </a:solidFill>
              </a:rPr>
              <a:t> Algorithm Implementation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1DAC736-1B5F-71E6-7C40-81C5B75D0CA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17685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4F8D62-698F-4867-44DC-E765907DB8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41886"/>
            <a:ext cx="10515600" cy="1031056"/>
          </a:xfrm>
        </p:spPr>
        <p:txBody>
          <a:bodyPr/>
          <a:lstStyle/>
          <a:p>
            <a:r>
              <a:rPr lang="en-US" b="1" u="sng" dirty="0">
                <a:solidFill>
                  <a:schemeClr val="tx1">
                    <a:lumMod val="95000"/>
                    <a:lumOff val="5000"/>
                  </a:schemeClr>
                </a:solidFill>
                <a:cs typeface="Arial" panose="020B0604020202020204" pitchFamily="34" charset="0"/>
              </a:rPr>
              <a:t>Objective:</a:t>
            </a:r>
            <a:endParaRPr lang="en-IN" b="1" u="sng" dirty="0">
              <a:solidFill>
                <a:schemeClr val="tx1">
                  <a:lumMod val="95000"/>
                  <a:lumOff val="5000"/>
                </a:schemeClr>
              </a:solidFill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6830AF-EBDB-6E3E-3002-7BE19F7BF5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7452" y="2082018"/>
            <a:ext cx="10636348" cy="4334096"/>
          </a:xfrm>
        </p:spPr>
        <p:txBody>
          <a:bodyPr/>
          <a:lstStyle/>
          <a:p>
            <a:r>
              <a:rPr lang="en-IN" dirty="0" err="1">
                <a:solidFill>
                  <a:schemeClr val="tx2"/>
                </a:solidFill>
              </a:rPr>
              <a:t>Analyze</a:t>
            </a:r>
            <a:r>
              <a:rPr lang="en-IN" dirty="0">
                <a:solidFill>
                  <a:schemeClr val="tx2"/>
                </a:solidFill>
              </a:rPr>
              <a:t> product purchase patterns</a:t>
            </a:r>
          </a:p>
          <a:p>
            <a:r>
              <a:rPr lang="en-IN" dirty="0">
                <a:solidFill>
                  <a:schemeClr val="tx2"/>
                </a:solidFill>
              </a:rPr>
              <a:t>Implement </a:t>
            </a:r>
            <a:r>
              <a:rPr lang="en-IN" dirty="0" err="1">
                <a:solidFill>
                  <a:schemeClr val="tx2"/>
                </a:solidFill>
              </a:rPr>
              <a:t>Apriori</a:t>
            </a:r>
            <a:r>
              <a:rPr lang="en-IN" dirty="0">
                <a:solidFill>
                  <a:schemeClr val="tx2"/>
                </a:solidFill>
              </a:rPr>
              <a:t> algorithm.</a:t>
            </a:r>
          </a:p>
          <a:p>
            <a:r>
              <a:rPr lang="en-IN" dirty="0">
                <a:solidFill>
                  <a:schemeClr val="tx2"/>
                </a:solidFill>
              </a:rPr>
              <a:t>Identify frequent itemset.</a:t>
            </a:r>
          </a:p>
          <a:p>
            <a:r>
              <a:rPr lang="en-IN" dirty="0">
                <a:solidFill>
                  <a:schemeClr val="tx2"/>
                </a:solidFill>
              </a:rPr>
              <a:t>Generate strong association rules.</a:t>
            </a:r>
          </a:p>
          <a:p>
            <a:r>
              <a:rPr lang="en-IN" dirty="0">
                <a:solidFill>
                  <a:schemeClr val="tx2"/>
                </a:solidFill>
              </a:rPr>
              <a:t>Visualize association rule.</a:t>
            </a:r>
          </a:p>
        </p:txBody>
      </p:sp>
    </p:spTree>
    <p:extLst>
      <p:ext uri="{BB962C8B-B14F-4D97-AF65-F5344CB8AC3E}">
        <p14:creationId xmlns:p14="http://schemas.microsoft.com/office/powerpoint/2010/main" val="14964264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920376-51D1-535F-EFD5-E9EF6BE698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u="sng" dirty="0"/>
              <a:t>Dataset Preparation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63E268-DA44-0385-8A87-10AFDD761E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41537"/>
            <a:ext cx="10515600" cy="4351338"/>
          </a:xfrm>
        </p:spPr>
        <p:txBody>
          <a:bodyPr/>
          <a:lstStyle/>
          <a:p>
            <a:r>
              <a:rPr lang="en-IN" dirty="0">
                <a:solidFill>
                  <a:schemeClr val="tx2"/>
                </a:solidFill>
              </a:rPr>
              <a:t>Removed cancelled transactions</a:t>
            </a:r>
          </a:p>
          <a:p>
            <a:r>
              <a:rPr lang="en-IN" dirty="0">
                <a:solidFill>
                  <a:schemeClr val="tx2"/>
                </a:solidFill>
              </a:rPr>
              <a:t>Removed negative quantities</a:t>
            </a:r>
          </a:p>
          <a:p>
            <a:r>
              <a:rPr lang="en-IN" dirty="0">
                <a:solidFill>
                  <a:schemeClr val="tx2"/>
                </a:solidFill>
              </a:rPr>
              <a:t>Dropped missing Item names</a:t>
            </a:r>
          </a:p>
          <a:p>
            <a:r>
              <a:rPr lang="en-IN" dirty="0">
                <a:solidFill>
                  <a:schemeClr val="tx2"/>
                </a:solidFill>
              </a:rPr>
              <a:t>Selected Top 500 products</a:t>
            </a:r>
          </a:p>
          <a:p>
            <a:r>
              <a:rPr lang="en-IN" dirty="0">
                <a:solidFill>
                  <a:schemeClr val="tx2"/>
                </a:solidFill>
              </a:rPr>
              <a:t>Created Binary Basket Matrix</a:t>
            </a:r>
          </a:p>
        </p:txBody>
      </p:sp>
    </p:spTree>
    <p:extLst>
      <p:ext uri="{BB962C8B-B14F-4D97-AF65-F5344CB8AC3E}">
        <p14:creationId xmlns:p14="http://schemas.microsoft.com/office/powerpoint/2010/main" val="8331848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C33DD-0551-B02C-8B01-828CB390C5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u="sng" dirty="0" err="1"/>
              <a:t>Apriori</a:t>
            </a:r>
            <a:r>
              <a:rPr lang="en-IN" b="1" u="sng" dirty="0"/>
              <a:t> Algorithm Implementation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140419-3DC4-3E95-BF81-33F77B769F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36640"/>
            <a:ext cx="10515600" cy="4351338"/>
          </a:xfrm>
        </p:spPr>
        <p:txBody>
          <a:bodyPr/>
          <a:lstStyle/>
          <a:p>
            <a:r>
              <a:rPr lang="en-US" dirty="0"/>
              <a:t>What is </a:t>
            </a:r>
            <a:r>
              <a:rPr lang="en-US" dirty="0" err="1"/>
              <a:t>apriori</a:t>
            </a:r>
            <a:r>
              <a:rPr lang="en-US" dirty="0"/>
              <a:t> algorithm?</a:t>
            </a:r>
          </a:p>
          <a:p>
            <a:pPr lvl="1"/>
            <a:r>
              <a:rPr lang="en-IN" dirty="0">
                <a:solidFill>
                  <a:schemeClr val="accent2">
                    <a:lumMod val="50000"/>
                  </a:schemeClr>
                </a:solidFill>
              </a:rPr>
              <a:t>Used for Market Basket Analysis</a:t>
            </a:r>
          </a:p>
          <a:p>
            <a:pPr lvl="1"/>
            <a:r>
              <a:rPr lang="en-IN" dirty="0">
                <a:solidFill>
                  <a:schemeClr val="accent2">
                    <a:lumMod val="50000"/>
                  </a:schemeClr>
                </a:solidFill>
              </a:rPr>
              <a:t>Finds frequent itemset</a:t>
            </a:r>
          </a:p>
          <a:p>
            <a:pPr lvl="1"/>
            <a:r>
              <a:rPr lang="en-IN" dirty="0">
                <a:solidFill>
                  <a:schemeClr val="accent2">
                    <a:lumMod val="50000"/>
                  </a:schemeClr>
                </a:solidFill>
              </a:rPr>
              <a:t>Generates association rules</a:t>
            </a:r>
          </a:p>
          <a:p>
            <a:pPr lvl="1"/>
            <a:r>
              <a:rPr lang="en-US" dirty="0">
                <a:solidFill>
                  <a:schemeClr val="accent2">
                    <a:lumMod val="50000"/>
                  </a:schemeClr>
                </a:solidFill>
              </a:rPr>
              <a:t>Based on Support, Confidence &amp; Lift</a:t>
            </a:r>
            <a:endParaRPr lang="en-IN" dirty="0">
              <a:solidFill>
                <a:schemeClr val="accent2">
                  <a:lumMod val="50000"/>
                </a:schemeClr>
              </a:solidFill>
            </a:endParaRPr>
          </a:p>
          <a:p>
            <a:pPr marL="457200" lvl="1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387699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CAED5E-96D0-7F6C-A103-714ED5938B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9891"/>
            <a:ext cx="10515600" cy="997052"/>
          </a:xfrm>
        </p:spPr>
        <p:txBody>
          <a:bodyPr/>
          <a:lstStyle/>
          <a:p>
            <a:r>
              <a:rPr lang="en-IN" b="1" u="sng" dirty="0"/>
              <a:t>Frequent Itemset Identified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554E72-E4EB-9260-7A39-1759F56F07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026943"/>
            <a:ext cx="10515600" cy="4199356"/>
          </a:xfrm>
        </p:spPr>
        <p:txBody>
          <a:bodyPr/>
          <a:lstStyle/>
          <a:p>
            <a:r>
              <a:rPr lang="en-US" u="sng" dirty="0">
                <a:solidFill>
                  <a:schemeClr val="accent6">
                    <a:lumMod val="50000"/>
                  </a:schemeClr>
                </a:solidFill>
              </a:rPr>
              <a:t>Table of Top Frequent Itemset:</a:t>
            </a:r>
            <a:endParaRPr lang="en-IN" u="sng" dirty="0">
              <a:solidFill>
                <a:schemeClr val="accent6">
                  <a:lumMod val="50000"/>
                </a:schemeClr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A0B6D05-E83E-E05B-D63F-BF86EC548A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199" y="1631701"/>
            <a:ext cx="10894255" cy="3840631"/>
          </a:xfrm>
          <a:prstGeom prst="rect">
            <a:avLst/>
          </a:prstGeom>
          <a:pattFill prst="pct5">
            <a:fgClr>
              <a:schemeClr val="accent1"/>
            </a:fgClr>
            <a:bgClr>
              <a:schemeClr val="bg1"/>
            </a:bgClr>
          </a:pattFill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2B10733-01C8-ACAC-2D29-54B8114502E5}"/>
              </a:ext>
            </a:extLst>
          </p:cNvPr>
          <p:cNvSpPr txBox="1"/>
          <p:nvPr/>
        </p:nvSpPr>
        <p:spPr>
          <a:xfrm>
            <a:off x="838199" y="5461537"/>
            <a:ext cx="10317482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accent2">
                    <a:lumMod val="50000"/>
                  </a:schemeClr>
                </a:solidFill>
              </a:rPr>
              <a:t>Insights: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Customers often buy matching or same-theme products together, showing strong category-level associations.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High lift values (&gt;10) indicate strong cross-selling opportunities, especially in decorative and gifting items.</a:t>
            </a:r>
            <a:endParaRPr lang="en-IN" b="1" dirty="0">
              <a:solidFill>
                <a:schemeClr val="accent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55423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057147-614C-C9C9-0650-E7976DC24E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6"/>
            <a:ext cx="10515600" cy="755468"/>
          </a:xfrm>
        </p:spPr>
        <p:txBody>
          <a:bodyPr/>
          <a:lstStyle/>
          <a:p>
            <a:r>
              <a:rPr lang="en-IN" b="1" u="sng" dirty="0"/>
              <a:t>Lift Visualization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FD9478-5F8B-64BF-B058-CCE6A63BB0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1591" y="773724"/>
            <a:ext cx="10515600" cy="5808945"/>
          </a:xfrm>
        </p:spPr>
        <p:txBody>
          <a:bodyPr/>
          <a:lstStyle/>
          <a:p>
            <a:r>
              <a:rPr lang="en-US" dirty="0">
                <a:solidFill>
                  <a:schemeClr val="accent6">
                    <a:lumMod val="50000"/>
                  </a:schemeClr>
                </a:solidFill>
              </a:rPr>
              <a:t>Horizontal Bar Chart of Top 10 Rules by Lift</a:t>
            </a:r>
            <a:endParaRPr lang="en-IN" dirty="0">
              <a:solidFill>
                <a:schemeClr val="accent6">
                  <a:lumMod val="50000"/>
                </a:schemeClr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A25F839-73A1-5530-487B-E3303D87D4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590" y="1365671"/>
            <a:ext cx="11019233" cy="343022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F63D707-6A15-E124-BAAC-3689832020B5}"/>
              </a:ext>
            </a:extLst>
          </p:cNvPr>
          <p:cNvSpPr txBox="1"/>
          <p:nvPr/>
        </p:nvSpPr>
        <p:spPr>
          <a:xfrm>
            <a:off x="711590" y="4795897"/>
            <a:ext cx="11019233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accent6">
                    <a:lumMod val="50000"/>
                  </a:schemeClr>
                </a:solidFill>
              </a:rPr>
              <a:t>Insights: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Product pairs with high lift values indicate a strong likelihood of being purchased together compared to random chance.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SET/6 Red Spotty Paper Plates and SET/6 Red Spotty Paper Cups show the highest lift, suggesting a strong complementary relationship.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Such high-lift product combinations can be effectively used for bundle offers, cross-selling, and store layout optimization.</a:t>
            </a:r>
          </a:p>
        </p:txBody>
      </p:sp>
    </p:spTree>
    <p:extLst>
      <p:ext uri="{BB962C8B-B14F-4D97-AF65-F5344CB8AC3E}">
        <p14:creationId xmlns:p14="http://schemas.microsoft.com/office/powerpoint/2010/main" val="40392818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31F82D-0E48-3DDF-0C57-7E238A6B24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2583"/>
            <a:ext cx="10515600" cy="1325563"/>
          </a:xfrm>
        </p:spPr>
        <p:txBody>
          <a:bodyPr/>
          <a:lstStyle/>
          <a:p>
            <a:r>
              <a:rPr lang="en-US" b="1" u="sng" dirty="0"/>
              <a:t>Key Insights</a:t>
            </a:r>
            <a:endParaRPr lang="en-IN" b="1" u="sn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22D855-9C0E-99AE-93F2-8E89CCB467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94437"/>
            <a:ext cx="10515600" cy="4351338"/>
          </a:xfrm>
        </p:spPr>
        <p:txBody>
          <a:bodyPr/>
          <a:lstStyle/>
          <a:p>
            <a:r>
              <a:rPr lang="en-US" dirty="0">
                <a:solidFill>
                  <a:schemeClr val="accent4">
                    <a:lumMod val="50000"/>
                  </a:schemeClr>
                </a:solidFill>
              </a:rPr>
              <a:t>Customers purchasing red spotty paper plates are highly likely to buy matching cups.</a:t>
            </a:r>
          </a:p>
          <a:p>
            <a:r>
              <a:rPr lang="en-US" dirty="0">
                <a:solidFill>
                  <a:schemeClr val="accent4">
                    <a:lumMod val="50000"/>
                  </a:schemeClr>
                </a:solidFill>
              </a:rPr>
              <a:t> Regency teacup variants show strong cross-association.</a:t>
            </a:r>
          </a:p>
          <a:p>
            <a:r>
              <a:rPr lang="en-US" dirty="0">
                <a:solidFill>
                  <a:schemeClr val="accent4">
                    <a:lumMod val="50000"/>
                  </a:schemeClr>
                </a:solidFill>
              </a:rPr>
              <a:t>Gift/combo items show higher lift values.</a:t>
            </a:r>
          </a:p>
          <a:p>
            <a:r>
              <a:rPr lang="en-US" dirty="0">
                <a:solidFill>
                  <a:schemeClr val="accent4">
                    <a:lumMod val="50000"/>
                  </a:schemeClr>
                </a:solidFill>
              </a:rPr>
              <a:t>Complementary items should be placed together.</a:t>
            </a:r>
            <a:endParaRPr lang="en-IN" dirty="0">
              <a:solidFill>
                <a:schemeClr val="accent4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287291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7D75AE-6B30-8C90-4221-D0AC9591BA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/>
              <a:t>Business Recommendation</a:t>
            </a:r>
            <a:endParaRPr lang="en-IN" b="1" u="sn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453C38-2A77-3001-F00E-AD01EBA75E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>
                <a:solidFill>
                  <a:schemeClr val="accent4">
                    <a:lumMod val="50000"/>
                  </a:schemeClr>
                </a:solidFill>
              </a:rPr>
              <a:t>Bundle high-lift products</a:t>
            </a:r>
          </a:p>
          <a:p>
            <a:r>
              <a:rPr lang="en-US" dirty="0">
                <a:solidFill>
                  <a:schemeClr val="accent4">
                    <a:lumMod val="50000"/>
                  </a:schemeClr>
                </a:solidFill>
              </a:rPr>
              <a:t>Cross-sell recommendations in online store</a:t>
            </a:r>
          </a:p>
          <a:p>
            <a:r>
              <a:rPr lang="en-US" dirty="0">
                <a:solidFill>
                  <a:schemeClr val="accent4">
                    <a:lumMod val="50000"/>
                  </a:schemeClr>
                </a:solidFill>
              </a:rPr>
              <a:t>Cross-sell recommendations in online store</a:t>
            </a:r>
          </a:p>
          <a:p>
            <a:r>
              <a:rPr lang="en-IN" dirty="0">
                <a:solidFill>
                  <a:schemeClr val="accent4">
                    <a:lumMod val="50000"/>
                  </a:schemeClr>
                </a:solidFill>
              </a:rPr>
              <a:t>Create combo discounts</a:t>
            </a:r>
          </a:p>
          <a:p>
            <a:r>
              <a:rPr lang="en-IN" dirty="0">
                <a:solidFill>
                  <a:schemeClr val="accent4">
                    <a:lumMod val="50000"/>
                  </a:schemeClr>
                </a:solidFill>
              </a:rPr>
              <a:t>Create combo discounts</a:t>
            </a:r>
          </a:p>
        </p:txBody>
      </p:sp>
    </p:spTree>
    <p:extLst>
      <p:ext uri="{BB962C8B-B14F-4D97-AF65-F5344CB8AC3E}">
        <p14:creationId xmlns:p14="http://schemas.microsoft.com/office/powerpoint/2010/main" val="3947414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CFAFA6-6CCB-860A-297F-A40E6C886B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u="sng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268EE3-A686-A6FC-C1E7-F9D48D23B9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59696"/>
            <a:ext cx="10515600" cy="4351338"/>
          </a:xfrm>
        </p:spPr>
        <p:txBody>
          <a:bodyPr/>
          <a:lstStyle/>
          <a:p>
            <a:r>
              <a:rPr lang="en-US" dirty="0" err="1">
                <a:solidFill>
                  <a:schemeClr val="accent4">
                    <a:lumMod val="50000"/>
                  </a:schemeClr>
                </a:solidFill>
              </a:rPr>
              <a:t>Apriori</a:t>
            </a:r>
            <a:r>
              <a:rPr lang="en-US" dirty="0">
                <a:solidFill>
                  <a:schemeClr val="accent4">
                    <a:lumMod val="50000"/>
                  </a:schemeClr>
                </a:solidFill>
              </a:rPr>
              <a:t> successfully identified strong product relationships</a:t>
            </a:r>
          </a:p>
          <a:p>
            <a:r>
              <a:rPr lang="en-IN" dirty="0">
                <a:solidFill>
                  <a:schemeClr val="accent4">
                    <a:lumMod val="50000"/>
                  </a:schemeClr>
                </a:solidFill>
              </a:rPr>
              <a:t>28 strong rules filtered</a:t>
            </a:r>
          </a:p>
          <a:p>
            <a:r>
              <a:rPr lang="en-US" dirty="0">
                <a:solidFill>
                  <a:schemeClr val="accent4">
                    <a:lumMod val="50000"/>
                  </a:schemeClr>
                </a:solidFill>
              </a:rPr>
              <a:t>Market basket insights can improve sales strategy</a:t>
            </a:r>
          </a:p>
          <a:p>
            <a:r>
              <a:rPr lang="en-IN" dirty="0">
                <a:solidFill>
                  <a:schemeClr val="accent4">
                    <a:lumMod val="50000"/>
                  </a:schemeClr>
                </a:solidFill>
              </a:rPr>
              <a:t>Supports data-driven decision making</a:t>
            </a:r>
          </a:p>
        </p:txBody>
      </p:sp>
    </p:spTree>
    <p:extLst>
      <p:ext uri="{BB962C8B-B14F-4D97-AF65-F5344CB8AC3E}">
        <p14:creationId xmlns:p14="http://schemas.microsoft.com/office/powerpoint/2010/main" val="28224231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ACABA8-7AD9-A553-0502-E5DBD9DBF0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u="sng" dirty="0"/>
              <a:t>Technical Parameters Used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0CF481-EC37-3ADD-CCFC-62B577931C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45628"/>
            <a:ext cx="10515600" cy="4351338"/>
          </a:xfrm>
        </p:spPr>
        <p:txBody>
          <a:bodyPr/>
          <a:lstStyle/>
          <a:p>
            <a:r>
              <a:rPr lang="en-IN" dirty="0" err="1">
                <a:solidFill>
                  <a:schemeClr val="accent4">
                    <a:lumMod val="50000"/>
                  </a:schemeClr>
                </a:solidFill>
              </a:rPr>
              <a:t>min_support</a:t>
            </a:r>
            <a:r>
              <a:rPr lang="en-IN" dirty="0">
                <a:solidFill>
                  <a:schemeClr val="accent4">
                    <a:lumMod val="50000"/>
                  </a:schemeClr>
                </a:solidFill>
              </a:rPr>
              <a:t> = 0.004</a:t>
            </a:r>
          </a:p>
          <a:p>
            <a:r>
              <a:rPr lang="en-IN" dirty="0">
                <a:solidFill>
                  <a:schemeClr val="accent4">
                    <a:lumMod val="50000"/>
                  </a:schemeClr>
                </a:solidFill>
              </a:rPr>
              <a:t>confidence ≥ 0.6</a:t>
            </a:r>
          </a:p>
          <a:p>
            <a:r>
              <a:rPr lang="en-IN" dirty="0">
                <a:solidFill>
                  <a:schemeClr val="accent4">
                    <a:lumMod val="50000"/>
                  </a:schemeClr>
                </a:solidFill>
              </a:rPr>
              <a:t>lift ≥ 1.9</a:t>
            </a:r>
          </a:p>
          <a:p>
            <a:r>
              <a:rPr lang="en-IN" dirty="0" err="1">
                <a:solidFill>
                  <a:schemeClr val="accent4">
                    <a:lumMod val="50000"/>
                  </a:schemeClr>
                </a:solidFill>
              </a:rPr>
              <a:t>low_memory</a:t>
            </a:r>
            <a:r>
              <a:rPr lang="en-IN" dirty="0">
                <a:solidFill>
                  <a:schemeClr val="accent4">
                    <a:lumMod val="50000"/>
                  </a:schemeClr>
                </a:solidFill>
              </a:rPr>
              <a:t>=True</a:t>
            </a:r>
          </a:p>
          <a:p>
            <a:r>
              <a:rPr lang="en-IN" dirty="0">
                <a:solidFill>
                  <a:schemeClr val="accent4">
                    <a:lumMod val="50000"/>
                  </a:schemeClr>
                </a:solidFill>
              </a:rPr>
              <a:t>Top 500 products considered</a:t>
            </a:r>
          </a:p>
        </p:txBody>
      </p:sp>
    </p:spTree>
    <p:extLst>
      <p:ext uri="{BB962C8B-B14F-4D97-AF65-F5344CB8AC3E}">
        <p14:creationId xmlns:p14="http://schemas.microsoft.com/office/powerpoint/2010/main" val="7160461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1465</TotalTime>
  <Words>302</Words>
  <Application>Microsoft Office PowerPoint</Application>
  <PresentationFormat>Widescreen</PresentationFormat>
  <Paragraphs>52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Data Visualization &amp; Apriori Algorithm Implementation</vt:lpstr>
      <vt:lpstr>Objective:</vt:lpstr>
      <vt:lpstr>Dataset Preparation Summary</vt:lpstr>
      <vt:lpstr>Apriori Algorithm Implementation</vt:lpstr>
      <vt:lpstr>Frequent Itemset Identified</vt:lpstr>
      <vt:lpstr>Lift Visualization</vt:lpstr>
      <vt:lpstr>Key Insights</vt:lpstr>
      <vt:lpstr>Business Recommendation</vt:lpstr>
      <vt:lpstr>Conclusion</vt:lpstr>
      <vt:lpstr>Technical Parameters Used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Ankit Raj Sinha</dc:creator>
  <cp:lastModifiedBy>Ankit Raj Sinha</cp:lastModifiedBy>
  <cp:revision>1</cp:revision>
  <dcterms:created xsi:type="dcterms:W3CDTF">2026-02-11T04:42:13Z</dcterms:created>
  <dcterms:modified xsi:type="dcterms:W3CDTF">2026-02-12T05:07:25Z</dcterms:modified>
</cp:coreProperties>
</file>