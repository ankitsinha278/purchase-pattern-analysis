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4ECE1-3C43-4EAF-8275-E0A9D4FCF3D0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B8CAE-9146-4D21-AE25-74DEABA5A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701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4ECE1-3C43-4EAF-8275-E0A9D4FCF3D0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B8CAE-9146-4D21-AE25-74DEABA5A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579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4ECE1-3C43-4EAF-8275-E0A9D4FCF3D0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B8CAE-9146-4D21-AE25-74DEABA5A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64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4ECE1-3C43-4EAF-8275-E0A9D4FCF3D0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B8CAE-9146-4D21-AE25-74DEABA5A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078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4ECE1-3C43-4EAF-8275-E0A9D4FCF3D0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B8CAE-9146-4D21-AE25-74DEABA5A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059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4ECE1-3C43-4EAF-8275-E0A9D4FCF3D0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B8CAE-9146-4D21-AE25-74DEABA5A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059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4ECE1-3C43-4EAF-8275-E0A9D4FCF3D0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B8CAE-9146-4D21-AE25-74DEABA5A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6983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4ECE1-3C43-4EAF-8275-E0A9D4FCF3D0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B8CAE-9146-4D21-AE25-74DEABA5A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1189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4ECE1-3C43-4EAF-8275-E0A9D4FCF3D0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B8CAE-9146-4D21-AE25-74DEABA5A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772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4ECE1-3C43-4EAF-8275-E0A9D4FCF3D0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B8CAE-9146-4D21-AE25-74DEABA5A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924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4ECE1-3C43-4EAF-8275-E0A9D4FCF3D0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B8CAE-9146-4D21-AE25-74DEABA5AA1D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887042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4ECE1-3C43-4EAF-8275-E0A9D4FCF3D0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B8CAE-9146-4D21-AE25-74DEABA5A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087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4ECE1-3C43-4EAF-8275-E0A9D4FCF3D0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B8CAE-9146-4D21-AE25-74DEABA5AA1D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50330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4ECE1-3C43-4EAF-8275-E0A9D4FCF3D0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B8CAE-9146-4D21-AE25-74DEABA5A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8364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4ECE1-3C43-4EAF-8275-E0A9D4FCF3D0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B8CAE-9146-4D21-AE25-74DEABA5A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3644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4ECE1-3C43-4EAF-8275-E0A9D4FCF3D0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B8CAE-9146-4D21-AE25-74DEABA5A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494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64ECE1-3C43-4EAF-8275-E0A9D4FCF3D0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2CB8CAE-9146-4D21-AE25-74DEABA5AA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682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36D8D-F94A-0D19-3B1B-7938AEF898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465" y="516468"/>
            <a:ext cx="9144000" cy="2387600"/>
          </a:xfrm>
        </p:spPr>
        <p:txBody>
          <a:bodyPr>
            <a:normAutofit/>
          </a:bodyPr>
          <a:lstStyle/>
          <a:p>
            <a:r>
              <a:rPr lang="en-IN" sz="6600" b="1" dirty="0">
                <a:solidFill>
                  <a:schemeClr val="accent1">
                    <a:lumMod val="50000"/>
                  </a:schemeClr>
                </a:solidFill>
              </a:rPr>
              <a:t>Presentation Slides for Stakeholders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657EDE-2F1C-C283-2C39-6063AE5D28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9345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142BE-D39B-18A2-6F1F-C0700AC2F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solidFill>
                  <a:schemeClr val="accent6">
                    <a:lumMod val="50000"/>
                  </a:schemeClr>
                </a:solidFill>
              </a:rPr>
              <a:t>Business Challenge &amp; Opportunity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D9215-C64A-C3AD-54A1-2C36E22BB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sz="2400" dirty="0"/>
              <a:t>Retail business faces challenges:</a:t>
            </a:r>
          </a:p>
          <a:p>
            <a:pPr lvl="1"/>
            <a:r>
              <a:rPr lang="en-US" sz="2000" dirty="0"/>
              <a:t>Customers buy multiple items, but patterns are unclear</a:t>
            </a:r>
          </a:p>
          <a:p>
            <a:pPr lvl="1"/>
            <a:r>
              <a:rPr lang="en-IN" sz="2000" dirty="0"/>
              <a:t>Cross-selling opportunities are underutilized</a:t>
            </a:r>
          </a:p>
          <a:p>
            <a:pPr lvl="1"/>
            <a:r>
              <a:rPr lang="en-US" sz="2000" dirty="0"/>
              <a:t>Product placement is not data-driven</a:t>
            </a:r>
            <a:endParaRPr lang="en-IN" sz="2000" dirty="0"/>
          </a:p>
          <a:p>
            <a:pPr lvl="1"/>
            <a:endParaRPr lang="en-IN" dirty="0"/>
          </a:p>
          <a:p>
            <a:pPr marL="0" indent="0">
              <a:buNone/>
            </a:pPr>
            <a:r>
              <a:rPr lang="en-IN" sz="2000" b="1" dirty="0"/>
              <a:t>Goal:</a:t>
            </a:r>
          </a:p>
          <a:p>
            <a:pPr marL="0" indent="0">
              <a:buNone/>
            </a:pPr>
            <a:r>
              <a:rPr lang="en-US" sz="2000" dirty="0"/>
              <a:t>Use transaction data to identify product relationships and increase revenue.</a:t>
            </a:r>
          </a:p>
        </p:txBody>
      </p:sp>
    </p:spTree>
    <p:extLst>
      <p:ext uri="{BB962C8B-B14F-4D97-AF65-F5344CB8AC3E}">
        <p14:creationId xmlns:p14="http://schemas.microsoft.com/office/powerpoint/2010/main" val="3285808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905ED-5F14-2EDB-9982-92C610291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solidFill>
                  <a:schemeClr val="accent6">
                    <a:lumMod val="50000"/>
                  </a:schemeClr>
                </a:solidFill>
              </a:rPr>
              <a:t>Analytical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818C7-3E73-992E-E637-9E77359D4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0369"/>
            <a:ext cx="10515600" cy="4351338"/>
          </a:xfrm>
        </p:spPr>
        <p:txBody>
          <a:bodyPr>
            <a:normAutofit/>
          </a:bodyPr>
          <a:lstStyle/>
          <a:p>
            <a:r>
              <a:rPr lang="en-IN" sz="2000" dirty="0"/>
              <a:t>Analysed historical transaction data</a:t>
            </a:r>
          </a:p>
          <a:p>
            <a:endParaRPr lang="en-IN" sz="2000" dirty="0"/>
          </a:p>
          <a:p>
            <a:r>
              <a:rPr lang="en-US" sz="2000" dirty="0"/>
              <a:t>Identified products frequently purchased together</a:t>
            </a:r>
          </a:p>
          <a:p>
            <a:endParaRPr lang="en-US" sz="2000" dirty="0"/>
          </a:p>
          <a:p>
            <a:r>
              <a:rPr lang="en-US" sz="2000" dirty="0"/>
              <a:t>Measured strength of relationships using statistical metrics</a:t>
            </a:r>
          </a:p>
          <a:p>
            <a:endParaRPr lang="en-US" sz="2000" dirty="0"/>
          </a:p>
          <a:p>
            <a:r>
              <a:rPr lang="en-IN" sz="2000" dirty="0"/>
              <a:t>Extracted high-value product combinations</a:t>
            </a:r>
          </a:p>
        </p:txBody>
      </p:sp>
    </p:spTree>
    <p:extLst>
      <p:ext uri="{BB962C8B-B14F-4D97-AF65-F5344CB8AC3E}">
        <p14:creationId xmlns:p14="http://schemas.microsoft.com/office/powerpoint/2010/main" val="3459989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40AED-9B7F-BDB6-5914-52EF650CB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solidFill>
                  <a:schemeClr val="accent6">
                    <a:lumMod val="50000"/>
                  </a:schemeClr>
                </a:solidFill>
              </a:rPr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85ED8-C1C5-3ED8-C972-44C8D6BB3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8166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Several product pairs show strong buying relationships</a:t>
            </a:r>
          </a:p>
          <a:p>
            <a:endParaRPr lang="en-US" sz="2000" dirty="0"/>
          </a:p>
          <a:p>
            <a:r>
              <a:rPr lang="en-US" sz="2000" dirty="0"/>
              <a:t>Customers often purchase complementary or themed items together</a:t>
            </a:r>
          </a:p>
          <a:p>
            <a:endParaRPr lang="en-US" sz="2000" dirty="0"/>
          </a:p>
          <a:p>
            <a:r>
              <a:rPr lang="en-US" sz="2000" dirty="0"/>
              <a:t>Certain combinations significantly increase basket size</a:t>
            </a:r>
          </a:p>
          <a:p>
            <a:endParaRPr lang="en-US" sz="2000" dirty="0"/>
          </a:p>
          <a:p>
            <a:r>
              <a:rPr lang="en-US" sz="2000" dirty="0"/>
              <a:t>Seasonal items show higher association strength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6821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45BFC-B552-819B-537F-9CD73FC61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76" y="607524"/>
            <a:ext cx="8596668" cy="1320800"/>
          </a:xfrm>
        </p:spPr>
        <p:txBody>
          <a:bodyPr/>
          <a:lstStyle/>
          <a:p>
            <a:r>
              <a:rPr lang="en-IN" b="1" u="sng" dirty="0">
                <a:solidFill>
                  <a:schemeClr val="accent6">
                    <a:lumMod val="50000"/>
                  </a:schemeClr>
                </a:solidFill>
              </a:rPr>
              <a:t>Customer Buying Behaviour Insights</a:t>
            </a:r>
            <a:endParaRPr lang="en-IN" u="sng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FF1AC-0A1F-B8BA-5407-D0DE4F051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576" y="1928324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Customers buying Paper cups frequently purchase Paper plates indicating </a:t>
            </a:r>
          </a:p>
          <a:p>
            <a:pPr marL="0" indent="0">
              <a:buNone/>
            </a:pPr>
            <a:r>
              <a:rPr lang="en-US" sz="2000" dirty="0"/>
              <a:t>     strong bundling opportunity.</a:t>
            </a:r>
          </a:p>
          <a:p>
            <a:endParaRPr lang="en-US" sz="2000" dirty="0"/>
          </a:p>
          <a:p>
            <a:r>
              <a:rPr lang="en-US" sz="2000" dirty="0"/>
              <a:t>Customers purchasing Christmas Star Decoration often buy Christmas Heart </a:t>
            </a:r>
          </a:p>
          <a:p>
            <a:pPr marL="0" indent="0">
              <a:buNone/>
            </a:pPr>
            <a:r>
              <a:rPr lang="en-US" sz="2000" dirty="0"/>
              <a:t>     Decoration suggesting themed product placement.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Party decoration items show strong co-purchase behavior.</a:t>
            </a:r>
          </a:p>
          <a:p>
            <a:endParaRPr lang="en-US" sz="2000" dirty="0"/>
          </a:p>
          <a:p>
            <a:r>
              <a:rPr lang="en-US" sz="2000" dirty="0"/>
              <a:t>Matching gift items frequently appear in the same basket.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637022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AB277-4248-5DFC-1B94-C8B071EBF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chemeClr val="accent6">
                    <a:lumMod val="50000"/>
                  </a:schemeClr>
                </a:solidFill>
              </a:rPr>
              <a:t>What This Means for the Business</a:t>
            </a:r>
            <a:endParaRPr lang="en-IN" b="1" u="sng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C50C4-D61B-A56F-DF11-4C8C99DC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/>
              <a:t>These patterns indicate:</a:t>
            </a:r>
          </a:p>
          <a:p>
            <a:pPr marL="0" indent="0">
              <a:buNone/>
            </a:pPr>
            <a:endParaRPr lang="en-IN" sz="3200" dirty="0"/>
          </a:p>
          <a:p>
            <a:pPr lvl="1"/>
            <a:r>
              <a:rPr lang="en-IN" sz="2000" dirty="0"/>
              <a:t>Clear cross-selling opportunities</a:t>
            </a:r>
          </a:p>
          <a:p>
            <a:pPr lvl="1"/>
            <a:r>
              <a:rPr lang="en-US" sz="2000" dirty="0"/>
              <a:t>Potential for bundled product offerings</a:t>
            </a:r>
          </a:p>
          <a:p>
            <a:pPr lvl="1"/>
            <a:r>
              <a:rPr lang="en-IN" sz="2000" dirty="0"/>
              <a:t>Scope for store layout optimization</a:t>
            </a:r>
          </a:p>
          <a:p>
            <a:pPr lvl="1"/>
            <a:r>
              <a:rPr lang="en-US" sz="2000" dirty="0"/>
              <a:t>Opportunity to increase average order value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55845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7F0B1-E471-24A8-534F-A862735EF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solidFill>
                  <a:schemeClr val="accent6">
                    <a:lumMod val="50000"/>
                  </a:schemeClr>
                </a:solidFill>
              </a:rPr>
              <a:t>Recommended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5E9C7-131C-9FE9-CAEC-B72AE82D2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>
            <a:normAutofit/>
          </a:bodyPr>
          <a:lstStyle/>
          <a:p>
            <a:r>
              <a:rPr lang="en-IN" sz="2000" dirty="0"/>
              <a:t>Create bundled product packages</a:t>
            </a:r>
          </a:p>
          <a:p>
            <a:r>
              <a:rPr lang="en-US" sz="2000" dirty="0"/>
              <a:t>Place associated products close to each other</a:t>
            </a:r>
          </a:p>
          <a:p>
            <a:r>
              <a:rPr lang="en-IN" sz="2000" dirty="0"/>
              <a:t>Offer targeted combo discounts</a:t>
            </a:r>
          </a:p>
          <a:p>
            <a:r>
              <a:rPr lang="en-US" sz="2000" dirty="0"/>
              <a:t>Use recommendation systems in online platforms</a:t>
            </a:r>
          </a:p>
          <a:p>
            <a:r>
              <a:rPr lang="en-US" sz="2000" dirty="0"/>
              <a:t>Ensure stock availability of high-association items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492120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3A2EC-E9D1-791D-4847-6F5EAE93A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solidFill>
                  <a:schemeClr val="accent6">
                    <a:lumMod val="50000"/>
                  </a:schemeClr>
                </a:solidFill>
              </a:rPr>
              <a:t>Expected 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C93B3-2E5B-BD68-B14C-2739AB7BF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/>
              <a:t>We can expect:</a:t>
            </a:r>
          </a:p>
          <a:p>
            <a:pPr marL="0" indent="0">
              <a:buNone/>
            </a:pPr>
            <a:endParaRPr lang="en-IN" sz="3200" dirty="0"/>
          </a:p>
          <a:p>
            <a:pPr lvl="1"/>
            <a:r>
              <a:rPr lang="en-IN" sz="2000" dirty="0"/>
              <a:t>Higher average basket value</a:t>
            </a:r>
          </a:p>
          <a:p>
            <a:pPr lvl="1"/>
            <a:r>
              <a:rPr lang="en-IN" sz="2000" dirty="0"/>
              <a:t>Improved cross-selling performance</a:t>
            </a:r>
          </a:p>
          <a:p>
            <a:pPr lvl="1"/>
            <a:r>
              <a:rPr lang="en-IN" sz="2000" dirty="0"/>
              <a:t>Better customer shopping experience</a:t>
            </a:r>
          </a:p>
          <a:p>
            <a:pPr lvl="1"/>
            <a:r>
              <a:rPr lang="en-IN" sz="2000" dirty="0"/>
              <a:t>Increased revenue</a:t>
            </a:r>
          </a:p>
          <a:p>
            <a:pPr lvl="1"/>
            <a:r>
              <a:rPr lang="en-IN" sz="2000" dirty="0"/>
              <a:t>Data-driven merchandising strategy</a:t>
            </a:r>
          </a:p>
        </p:txBody>
      </p:sp>
    </p:spTree>
    <p:extLst>
      <p:ext uri="{BB962C8B-B14F-4D97-AF65-F5344CB8AC3E}">
        <p14:creationId xmlns:p14="http://schemas.microsoft.com/office/powerpoint/2010/main" val="3949074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CFC39-BF53-D7C2-D77D-91F5DF2F9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solidFill>
                  <a:schemeClr val="accent6">
                    <a:lumMod val="50000"/>
                  </a:schemeClr>
                </a:solidFill>
              </a:rPr>
              <a:t>Implementation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78337-D3A9-A61C-95AE-21C464974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215" y="2141537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3200" dirty="0">
                <a:solidFill>
                  <a:schemeClr val="accent4">
                    <a:lumMod val="50000"/>
                  </a:schemeClr>
                </a:solidFill>
              </a:rPr>
              <a:t>Short Term:</a:t>
            </a:r>
          </a:p>
          <a:p>
            <a:pPr lvl="1"/>
            <a:r>
              <a:rPr lang="en-IN" sz="2600" dirty="0"/>
              <a:t>Start bundling high-lift products</a:t>
            </a:r>
          </a:p>
          <a:p>
            <a:pPr lvl="1"/>
            <a:r>
              <a:rPr lang="en-IN" sz="2600" dirty="0"/>
              <a:t>Optimize shelf placement</a:t>
            </a:r>
          </a:p>
          <a:p>
            <a:pPr lvl="1"/>
            <a:endParaRPr lang="en-IN" sz="2800" b="1" dirty="0"/>
          </a:p>
          <a:p>
            <a:r>
              <a:rPr lang="en-IN" sz="3200" dirty="0">
                <a:solidFill>
                  <a:schemeClr val="accent4">
                    <a:lumMod val="50000"/>
                  </a:schemeClr>
                </a:solidFill>
              </a:rPr>
              <a:t>Medium Term:</a:t>
            </a:r>
          </a:p>
          <a:p>
            <a:pPr lvl="1"/>
            <a:r>
              <a:rPr lang="en-IN" sz="2600" dirty="0"/>
              <a:t>Introduce targeted promotions</a:t>
            </a:r>
          </a:p>
          <a:p>
            <a:pPr lvl="1"/>
            <a:endParaRPr lang="en-IN" sz="2800" dirty="0"/>
          </a:p>
          <a:p>
            <a:pPr marL="0" indent="0">
              <a:buNone/>
            </a:pPr>
            <a:r>
              <a:rPr lang="en-IN" sz="3200" dirty="0">
                <a:solidFill>
                  <a:schemeClr val="accent4">
                    <a:lumMod val="50000"/>
                  </a:schemeClr>
                </a:solidFill>
              </a:rPr>
              <a:t>Long Term:</a:t>
            </a:r>
          </a:p>
          <a:p>
            <a:pPr lvl="1"/>
            <a:r>
              <a:rPr lang="en-IN" sz="2600" dirty="0"/>
              <a:t>Build recommendation engine</a:t>
            </a:r>
            <a:endParaRPr lang="en-IN" sz="2600" b="1" dirty="0"/>
          </a:p>
        </p:txBody>
      </p:sp>
    </p:spTree>
    <p:extLst>
      <p:ext uri="{BB962C8B-B14F-4D97-AF65-F5344CB8AC3E}">
        <p14:creationId xmlns:p14="http://schemas.microsoft.com/office/powerpoint/2010/main" val="4228105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21426-B376-261F-05DC-D8AB972B5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solidFill>
                  <a:schemeClr val="accent6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9326A-3057-F904-BABC-31D24C4E1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4153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Market Basket Analysis provides actionable insights that can </a:t>
            </a:r>
          </a:p>
          <a:p>
            <a:pPr marL="0" indent="0">
              <a:buNone/>
            </a:pPr>
            <a:r>
              <a:rPr lang="en-US" sz="2400" dirty="0"/>
              <a:t>directly improve sales performance and strategic decision-making.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This analysis helps move from intuition-based selling to data-driven growth.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5179963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</TotalTime>
  <Words>280</Words>
  <Application>Microsoft Office PowerPoint</Application>
  <PresentationFormat>Widescreen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Presentation Slides for Stakeholders</vt:lpstr>
      <vt:lpstr>Business Challenge &amp; Opportunity</vt:lpstr>
      <vt:lpstr>Analytical Approach</vt:lpstr>
      <vt:lpstr>Key Findings</vt:lpstr>
      <vt:lpstr>Customer Buying Behaviour Insights</vt:lpstr>
      <vt:lpstr>What This Means for the Business</vt:lpstr>
      <vt:lpstr>Recommended Actions</vt:lpstr>
      <vt:lpstr>Expected Business Impact</vt:lpstr>
      <vt:lpstr>Implementation Roadmap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 Raj Sinha</dc:creator>
  <cp:lastModifiedBy>Ankit Raj Sinha</cp:lastModifiedBy>
  <cp:revision>1</cp:revision>
  <dcterms:created xsi:type="dcterms:W3CDTF">2026-02-17T14:15:29Z</dcterms:created>
  <dcterms:modified xsi:type="dcterms:W3CDTF">2026-02-17T14:23:25Z</dcterms:modified>
</cp:coreProperties>
</file>